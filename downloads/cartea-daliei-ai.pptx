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ns0:sldMasterIdLst>
    <ns0:sldMasterId id="2147483648" ns1:id="rId1"/>
  </ns0:sldMasterIdLst>
  <ns0:sldIdLst>
    <ns0:sldId id="256" ns1:id="rId7"/>
    <ns0:sldId id="257" ns1:id="rId9"/>
    <ns0:sldId id="258" ns1:id="rId10"/>
    <ns0:sldId id="259" ns1:id="rId11"/>
    <ns0:sldId id="260" ns1:id="rId12"/>
    <ns0:sldId id="261" ns1:id="rId13"/>
    <ns0:sldId id="262" ns1:id="rId14"/>
    <ns0:sldId id="263" ns1:id="rId15"/>
    <ns0:sldId id="264" ns1:id="rId16"/>
    <ns0:sldId id="265" ns1:id="rId17"/>
    <ns0:sldId id="266" ns1:id="rId18"/>
    <ns0:sldId id="267" ns1:id="rId19"/>
    <ns0:sldId id="268" ns1:id="rId20"/>
    <ns0:sldId id="269" ns1:id="rId21"/>
  </ns0:sldIdLst>
  <ns0:sldSz cx="12191695" cy="6858000" type="screen4x3"/>
  <ns0:notesSz cx="6858000" cy="9144000"/>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a:t>
            </a:r>
          </a:p>
          <a:p/>
          <a:p>
            <a:r>
              <a:t>Cand eram de varsta voastra, auzeam despre calculatoare de la alti copii care aveau unul. Eu nu aveam, dar la un moment dat am primit o foaie cu comenzile unui limbaj de programare, BASIC.</a:t>
            </a:r>
          </a:p>
          <a:p>
            <a:r>
              <a:t>Am inceput sa scriu programe pe hartie. Le dadeam unui prieten care avea calculator, iar a doua zi imi aducea notite sau imi povestea ce nu mersese. Eu corectam si incercam din nou. Faceam un fel de remote debugging, doar ca raspunsul venea a doua zi.</a:t>
            </a:r>
          </a:p>
          <a:p>
            <a:r>
              <a:t>In timp am avut si eu calculatorul meu si, de atunci, calculatoarele au ramas parte din viata mea.</a:t>
            </a:r>
          </a:p>
          <a:p>
            <a:r>
              <a:t>Astazi putem incerca idei mult mai repede. Dar partea care imi place a ramas aceeasi: ai o idee, incerci ceva, observi ce nu merge si imbunatatesti. Astazi o sa facem impreuna exact asta, cu ajutorul AI.</a:t>
            </a:r>
          </a:p>
          <a:p/>
          <a:p>
            <a:r>
              <a:t>SURSE</a:t>
            </a:r>
          </a:p>
          <a:p>
            <a:r>
              <a:t>Poveste oferita de Dragos sau exemplu educational original.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a:t>
            </a:r>
          </a:p>
          <a:p/>
          <a:p>
            <a:r>
              <a:t>Inainte sa va arat ceva, sunt curios de unde pornim. Pentru ce ati folosit AI pana acum? Alegeti varianta cea mai apropiata de voi; si 'inca nu' este un raspuns foarte bun.</a:t>
            </a:r>
          </a:p>
          <a:p>
            <a:r>
              <a:t>Probabil avem experiente diferite. Pana la final vreau sa puteti face doua lucruri: sa formulati mai bine o cerere si sa verificati un rezultat fara sa va bazati doar pe AI.</a:t>
            </a:r>
          </a:p>
          <a:p/>
          <a:p>
            <a:r>
              <a:t>SURSE</a:t>
            </a:r>
          </a:p>
          <a:p>
            <a:r>
              <a:t>Poveste oferita de Dragos sau exemplu educational original.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a:t>
            </a:r>
          </a:p>
          <a:p/>
          <a:p>
            <a:r>
              <a:t>AI nu a aparut odata cu aplicatiile pe care le folosim astazi. In 1950, Claude Shannon construia un soricel electromecanic care invata traseul printr-un labirint. La inceput explora. Apoi sistemul putea folosi drumul retinut.</a:t>
            </a:r>
          </a:p>
          <a:p>
            <a:r>
              <a:t>In schema din stanga, traseul albastru reprezinta drumul retinut. Este o ilustratie a ideii, nu planul aparatului original.</a:t>
            </a:r>
          </a:p>
          <a:p>
            <a:r>
              <a:t>In 1966, ELIZA putea parea un partener de conversatie folosind reguli si tipare. Parea ca intelege, desi mecanismul era foarte diferit de cel al asistentilor de azi.</a:t>
            </a:r>
          </a:p>
          <a:p>
            <a:r>
              <a:t>Intre aceste experimente si ChatGPT au trecut decenii de cercetare. Lansarea publica din 2022 a adus o schimbare vizibila: mult mai multi oameni au putut incerca direct o conversatie cu AI.</a:t>
            </a:r>
          </a:p>
          <a:p/>
          <a:p>
            <a:r>
              <a:t>SURSE</a:t>
            </a:r>
          </a:p>
          <a:p>
            <a:r>
              <a:t>https://www.technologyreview.com/2018/12/19/138508/mighty-mouse/</a:t>
            </a:r>
          </a:p>
          <a:p>
            <a:r>
              <a:t>https://www-formal.stanford.edu/jmc/history/dartmouth/dartmouth.html</a:t>
            </a:r>
          </a:p>
          <a:p>
            <a:r>
              <a:t>https://www.csail.mit.edu/news/eliza-wins-peabody-award</a:t>
            </a:r>
          </a:p>
          <a:p>
            <a:r>
              <a:t>https://openai.com/index/chatgpt/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a:t>
            </a:r>
          </a:p>
          <a:p/>
          <a:p>
            <a:r>
              <a:t>La biblioteca am deschis... Ce ati pune mai departe: o carte, un laptop sau o umbrela?</a:t>
            </a:r>
          </a:p>
          <a:p>
            <a:r>
              <a:t>Acum adaug ceva: aveam de terminat un proiect digital. Poate ca unii dintre voi ati schimba alegerea.</a:t>
            </a:r>
          </a:p>
          <a:p>
            <a:r>
              <a:t>Nu exista un singur raspuns obligatoriu. Ce observam este ca informatia noua schimba continuarea la care ne asteptam. Acesta este un punct de plecare ca sa intelegem modelele de limbaj.</a:t>
            </a:r>
          </a:p>
          <a:p>
            <a:r>
              <a:t>Voturile noastre nu sunt probabilitatile unui model. Modelul a invatat tipare din multe exemple si le foloseste impreuna cu contextul. Iar o continuare plauzibila poate fi totusi falsa.</a:t>
            </a:r>
          </a:p>
          <a:p/>
          <a:p>
            <a:r>
              <a:t>SURSE</a:t>
            </a:r>
          </a:p>
          <a:p>
            <a:r>
              <a:t>https://www.3blue1brown.com/lessons/mini-llm/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a:t>
            </a:r>
          </a:p>
          <a:p/>
          <a:p>
            <a:r>
              <a:t>Un LLM genereaza textul pas cu pas. Priveste contextul, atribuie probabilitati unor continuari si selecteaza un token, adica un fragment de text. Uneori este un cuvant, alteori doar o parte. Fragmentul se adauga si procesul continua.</a:t>
            </a:r>
          </a:p>
          <a:p>
            <a:r>
              <a:t>De ce poate face mai mult decat completarea unei propozitii? In antrenare, modelul isi ajusteaza predictiile pe foarte multe exemple. Metodele si calculul au progresat. Alte etape de antrenare il ajuta sa urmeze cerinte si sa raspunda mai util.</a:t>
            </a:r>
          </a:p>
          <a:p>
            <a:r>
              <a:t>Un asistent poate folosi si instrumente: cautare, analiza de imagini sau executare de cod. Astfel, de la o idee putem ajunge la o pagina pe care o deschidem si o incercam.</a:t>
            </a:r>
          </a:p>
          <a:p>
            <a:r>
              <a:t>Dar faptul ca o poate genera nu inseamna ca a si verificat tot ce a scris.</a:t>
            </a:r>
          </a:p>
          <a:p/>
          <a:p>
            <a:r>
              <a:t>SURSE</a:t>
            </a:r>
          </a:p>
          <a:p>
            <a:r>
              <a:t>https://www.3blue1brown.com/lessons/mini-llm/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a:t>
            </a:r>
          </a:p>
          <a:p/>
          <a:p>
            <a:r>
              <a:t>Sa luam o idee simpla: vrem o pagina pentru un eveniment la liceu. Nu trebuie sa stim deja cum se scrie fiecare linie de cod ca sa putem descrie ce vrem.</a:t>
            </a:r>
          </a:p>
          <a:p>
            <a:r>
              <a:t>Priviti pagina: ce ati cauta daca ati fi invitati? Data, ora, locul, activitatile, costul. Exact aceste lucruri vor deveni criteriile noastre.</a:t>
            </a:r>
          </a:p>
          <a:p>
            <a:r>
              <a:t>Aceasta captura este un exemplu pregatit pentru sesiune. In Copilot vom vedea ce putem obtine pornind de la o cerere si cum se schimba rezultatul cand o clarificam.</a:t>
            </a:r>
          </a:p>
          <a:p/>
          <a:p>
            <a:r>
              <a:t>SURSE</a:t>
            </a:r>
          </a:p>
          <a:p>
            <a:r>
              <a:t>Poveste oferita de Dragos sau exemplu educational original.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a:t>
            </a:r>
          </a:p>
          <a:p/>
          <a:p>
            <a:r>
              <a:t>O sa incep intentionat cu o cerere scurta: fa o pagina pentru un eveniment la liceu.</a:t>
            </a:r>
          </a:p>
          <a:p>
            <a:r>
              <a:t>Sa vedem ce intelege din ea. Daca imi cere detalii, foarte bine: a observat ca ii lipsesc informatii. Daca produce direct o pagina, ne uitam la presupunerile pe care le-a facut.</a:t>
            </a:r>
          </a:p>
          <a:p>
            <a:r>
              <a:t>Nu cautam sa obtinem ceva perfect din prima. Vrem sa vedem unde trebuie sa intervenim noi. O pagina poate arata bine si totusi sa nu spuna cand are loc evenimentul.</a:t>
            </a:r>
          </a:p>
          <a:p/>
          <a:p>
            <a:r>
              <a:t>SURSE</a:t>
            </a:r>
          </a:p>
          <a:p>
            <a:r>
              <a:t>Poveste oferita de Dragos sau exemplu educational original.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a:t>
            </a:r>
          </a:p>
          <a:p/>
          <a:p>
            <a:r>
              <a:t>Ce voiam, de fapt? O pagina care sa ajute un elev sa inteleaga daca vrea sa vina. Acum avem un scop si detalii.</a:t>
            </a:r>
          </a:p>
          <a:p>
            <a:r>
              <a:t>Adaugam numele, data, ora, locul, accesul gratuit si faptul ca trebuie sa mearga pe telefon. Cand schimbam cererea, avem si criterii dupa care putem judeca pagina.</a:t>
            </a:r>
          </a:p>
          <a:p>
            <a:r>
              <a:t>Puteti scrie in chat un lucru pe care l-ati mai clarifica. Eu am pregatit deja cateva, asa ca putem continua si fara raspunsuri.</a:t>
            </a:r>
          </a:p>
          <a:p>
            <a:r>
              <a:t>Gandirea critica incepe chiar din felul in care intrebam. 'De ce AI ii face pe elevi lenesi?' presupune deja concluzia. 'Cand poate AI ajuta sau impiedica invatarea?' ne lasa sa exploram mai multe explicatii.</a:t>
            </a:r>
          </a:p>
          <a:p>
            <a:r>
              <a:t>O cerere mai buna poate aduce un rezultat mai util. Nu garanteaza ca fiecare informatie este adevarata.</a:t>
            </a:r>
          </a:p>
          <a:p/>
          <a:p>
            <a:r>
              <a:t>SURSE</a:t>
            </a:r>
          </a:p>
          <a:p>
            <a:r>
              <a:t>https://uit.stanford.edu/service/techtraining/ai-demystified/prompt-engineering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a:t>
            </a:r>
          </a:p>
          <a:p/>
          <a:p>
            <a:r>
              <a:t>Acum verificam trei lucruri diferite. Mai intai: respecta ce am cerut? Comparam data si ora cu cererea noastra, nu cu memoria modelului.</a:t>
            </a:r>
          </a:p>
          <a:p>
            <a:r>
              <a:t>Apoi: functioneaza? Apasam pe buton si deschidem pagina la latimea unui telefon. Programul incepe la 17 si se termina la 19? Cele trei intervale de 40 de minute dau doua ore?</a:t>
            </a:r>
          </a:p>
          <a:p>
            <a:r>
              <a:t>In sfarsit: putem trata informatia drept adevarata? Aici evenimentul este fictiv. Pentru unul real, faptul ca AI a pus o data pe pagina nu o confirma. O verificam cu organizatorul sau cu anuntul oficial.</a:t>
            </a:r>
          </a:p>
          <a:p>
            <a:r>
              <a:t>Un raspuns poate suna sigur sau poate fi foarte frumos si totusi sa contina o informatie gresita. Tocmai de aceea trebuie sa alegem verificarea potrivita.</a:t>
            </a:r>
          </a:p>
          <a:p/>
          <a:p>
            <a:r>
              <a:t>SURSE</a:t>
            </a:r>
          </a:p>
          <a:p>
            <a:r>
              <a:t>https://dayofai.org/units/truth-tricks-and-ai-learning-to-verify-information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a:t>
            </a:r>
          </a:p>
          <a:p/>
          <a:p>
            <a:r>
              <a:t>Din tot ce am facut, as pastra cinci obiceiuri.</a:t>
            </a:r>
          </a:p>
          <a:p>
            <a:r>
              <a:t>Protejeaza-ti datele: nu ai nevoie sa trimiti parole, acte sau informatii despre colegi ca sa explorezi o idee.</a:t>
            </a:r>
          </a:p>
          <a:p>
            <a:r>
              <a:t>Verifica ce conteaza. Nu verificam la fel culoarea unui buton si o afirmatie despre sanatate.</a:t>
            </a:r>
          </a:p>
          <a:p>
            <a:r>
              <a:t>Nu confunda tonul sigur cu adevarul. Ati vazut ca aspectul si corectitudinea sunt lucruri diferite.</a:t>
            </a:r>
          </a:p>
          <a:p>
            <a:r>
              <a:t>Spune unde te-a ajutat AI si respecta regulile scolii. Contributia ta poate fi ideea, selectia, verificarea si ceea ce ai schimbat.</a:t>
            </a:r>
          </a:p>
          <a:p>
            <a:r>
              <a:t>Si pastreaza decizia la tine. Daca nu intelegi rezultatul sau consecintele, opreste-te si cere sprijin. A folosi AI responsabil inseamna sa stii si cand sa nu te bazezi pe el.</a:t>
            </a:r>
          </a:p>
          <a:p/>
          <a:p>
            <a:r>
              <a:t>SURSE</a:t>
            </a:r>
          </a:p>
          <a:p>
            <a:r>
              <a:t>https://dayofai.org/units/truth-tricks-and-ai-learning-to-verify-information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a:t>
            </a:r>
          </a:p>
          <a:p/>
          <a:p>
            <a:r>
              <a:t>Poate ca partea de cod v-a atras. Sau poate v-ati uitat mai degraba la cum arata pagina, la ce lipseste din program ori la cine poate participa.</a:t>
            </a:r>
          </a:p>
          <a:p>
            <a:r>
              <a:t>Toate acestea au legatura cu munca in tech. Un software engineer construieste aplicatia. Cineva din cybersecurity se intreaba cum poate fi folosita gresit si cum o protejam. Data si AI inseamna sa lucrezi cu date si sa verifici ce concluzii poti trage.</a:t>
            </a:r>
          </a:p>
          <a:p>
            <a:r>
              <a:t>UX inseamna sa intelegi oamenii si sa faci produsul usor de folosit. Product inseamna sa alegi problema si prioritatile. Responsible AI inseamna sa te gandesti la efecte, riscuri si echitate.</a:t>
            </a:r>
          </a:p>
          <a:p>
            <a:r>
              <a:t>Nu trebuie sa va alegeti acum o meserie. Puteti observa ce fel de intrebari va place sa puneti si sa incercati proiecte mici in directia aceea.</a:t>
            </a:r>
          </a:p>
          <a:p/>
          <a:p>
            <a:r>
              <a:t>SURSE</a:t>
            </a:r>
          </a:p>
          <a:p>
            <a:r>
              <a:t>Poveste oferita de Dragos sau exemplu educational original.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a:t>
            </a:r>
          </a:p>
          <a:p/>
          <a:p>
            <a:r>
              <a:t>Sa luam un rol de Product: te ocupi ca pagina sa rezolve o problema pentru oameni. AI iti poate propune texte, schite si un program.</a:t>
            </a:r>
          </a:p>
          <a:p>
            <a:r>
              <a:t>Dar daca participantii nu pot ramane dupa o anumita ora? Daca unii nu au laptop? Daca sala nu poate fi folosita atunci? Ai nevoie sa cunosti situatia, sa asculti si sa alegi ce este fezabil. O pagina convingatoare nu rezolva singura aceste lucruri.</a:t>
            </a:r>
          </a:p>
          <a:p>
            <a:r>
              <a:t>Unele sisteme pot deja folosi mai multe instrumente. In viitor am putea vedea mai multe activitati legate automat, dar nu stim exact ritmul, costul sau cat de fiabile vor deveni.</a:t>
            </a:r>
          </a:p>
          <a:p>
            <a:r>
              <a:t>De aceea este mai util sa ne uitam la activitati decat sa spunem ca o meserie dispare sau este complet sigura. Cunostintele va ajuta sa observati greselile. Curiozitatea va ajuta sa explorati. Comunicarea si judecata va ajuta sa lucrati cu ceilalti si sa alegeti ce merita facut.</a:t>
            </a:r>
          </a:p>
          <a:p/>
          <a:p>
            <a:r>
              <a:t>SURSE</a:t>
            </a:r>
          </a:p>
          <a:p>
            <a:r>
              <a:t>https://www.ilo.org/publications/generative-ai-and-jobs-2025-update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a:t>
            </a:r>
          </a:p>
          <a:p/>
          <a:p>
            <a:r>
              <a:t>Pentru cei care vor sa incerce, GitHub Copilot are o varianta Free, cu limite, si exista beneficii GitHub Education pentru elevii eligibili.</a:t>
            </a:r>
          </a:p>
          <a:p>
            <a:r>
              <a:t>Nu trebuie sa facem conturi acum. Puteti incepe si cu o idee pe hartie: ce vreti sa obtineti si cum veti sti ca a functionat?</a:t>
            </a:r>
          </a:p>
          <a:p>
            <a:r>
              <a:t>Mi-ar placea sa alegeti ceva care va intereseaza, nu ceva ce credeti ca trebuie sa impresioneze. Un inceput mic va da ceva real de imbunatatit.</a:t>
            </a:r>
          </a:p>
          <a:p/>
          <a:p>
            <a:r>
              <a:t>SURSE</a:t>
            </a:r>
          </a:p>
          <a:p>
            <a:r>
              <a:t>https://docs.github.com/en/copilot/get-started/plans</a:t>
            </a:r>
          </a:p>
          <a:p>
            <a:r>
              <a:t>https://docs.github.com/en/copilot/concepts/billing-and-usage/individuals/billing</a:t>
            </a:r>
          </a:p>
          <a:p>
            <a:r>
              <a:t>https://education.github.com/pack</a:t>
            </a:r>
          </a:p>
          <a:p>
            <a:r>
              <a:t>https://docs.github.com/en/education/about-github-education/github-education-for-students/apply-to-github-education-as-a-student</a:t>
            </a:r>
          </a:p>
          <a:p>
            <a:r>
              <a:t>https://www.3blue1brown.com/lessons/mini-llm/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a:t>
            </a:r>
          </a:p>
          <a:p/>
          <a:p>
            <a:r>
              <a:t>As vrea sa ramaneti cu trei lucruri.</a:t>
            </a:r>
          </a:p>
          <a:p>
            <a:r>
              <a:t>AI este un instrument foarte puternic, dar nu este infailibil.</a:t>
            </a:r>
          </a:p>
          <a:p>
            <a:r>
              <a:t>Valoarea voastra ramane in intrebarile pe care le puneti, in alegeri si in felul in care ganditi.</a:t>
            </a:r>
          </a:p>
          <a:p>
            <a:r>
              <a:t>Si nu trebuie sa stiti deja totul ca sa incepeti sa explorati si sa construiti.</a:t>
            </a:r>
          </a:p>
          <a:p>
            <a:r>
              <a:t>Eu am inceput cu o foaie de comenzi si programe pe hartie. Provocarea mea pentru voi: alegeti o idee, incercati-o si aratati ce ati schimbat, verificat si invatat. Puteti incepe si pe hartie.</a:t>
            </a:r>
          </a:p>
          <a:p>
            <a:r>
              <a:t>Acum sunt curios ce intrebari aveti.</a:t>
            </a:r>
          </a:p>
          <a:p/>
          <a:p>
            <a:r>
              <a:t>SURSE</a:t>
            </a:r>
          </a:p>
          <a:p>
            <a:r>
              <a:t>Poveste oferita de Dragos sau exemplu educational original.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2636"/>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FFFFFF"/>
                </a:solidFill>
                <a:latin typeface="Aptos Display"/>
              </a:rPr>
              <a:t>Primul meu cod a fost pe hartie.</a:t>
            </a:r>
          </a:p>
        </p:txBody>
      </p:sp>
      <p:sp>
        <p:nvSpPr>
          <p:cNvPr id="3" name="Rectangle 2"/>
          <p:cNvSpPr/>
          <p:nvPr/>
        </p:nvSpPr>
        <p:spPr>
          <a:xfrm>
            <a:off x="594360" y="6364224"/>
            <a:ext cx="10972800" cy="10972"/>
          </a:xfrm>
          <a:prstGeom prst="rect">
            <a:avLst/>
          </a:prstGeom>
          <a:solidFill>
            <a:srgbClr val="8190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CDD6E1"/>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FFFFFF"/>
                </a:solidFill>
                <a:latin typeface="Aptos"/>
              </a:rPr>
              <a:t>1</a:t>
            </a:r>
          </a:p>
        </p:txBody>
      </p:sp>
      <p:sp>
        <p:nvSpPr>
          <p:cNvPr id="6" name="Rectangle 5"/>
          <p:cNvSpPr/>
          <p:nvPr/>
        </p:nvSpPr>
        <p:spPr>
          <a:xfrm>
            <a:off x="685800" y="1874519"/>
            <a:ext cx="4892040"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2606040"/>
            <a:ext cx="4297680" cy="10972"/>
          </a:xfrm>
          <a:prstGeom prst="rect">
            <a:avLst/>
          </a:prstGeom>
          <a:solidFill>
            <a:srgbClr val="D5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 y="3172968"/>
            <a:ext cx="4297680" cy="10972"/>
          </a:xfrm>
          <a:prstGeom prst="rect">
            <a:avLst/>
          </a:prstGeom>
          <a:solidFill>
            <a:srgbClr val="D5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 y="3739896"/>
            <a:ext cx="4297680" cy="10972"/>
          </a:xfrm>
          <a:prstGeom prst="rect">
            <a:avLst/>
          </a:prstGeom>
          <a:solidFill>
            <a:srgbClr val="D5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0120" y="4306824"/>
            <a:ext cx="4297680" cy="10972"/>
          </a:xfrm>
          <a:prstGeom prst="rect">
            <a:avLst/>
          </a:prstGeom>
          <a:solidFill>
            <a:srgbClr val="D5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4873752"/>
            <a:ext cx="4297680" cy="10972"/>
          </a:xfrm>
          <a:prstGeom prst="rect">
            <a:avLst/>
          </a:prstGeom>
          <a:solidFill>
            <a:srgbClr val="D5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157984"/>
            <a:ext cx="4297680" cy="2560320"/>
          </a:xfrm>
          <a:prstGeom prst="rect">
            <a:avLst/>
          </a:prstGeom>
          <a:noFill/>
        </p:spPr>
        <p:txBody>
          <a:bodyPr wrap="square" lIns="22860" rIns="22860" tIns="22860" bIns="22860">
            <a:spAutoFit/>
          </a:bodyPr>
          <a:lstStyle/>
          <a:p>
            <a:pPr>
              <a:spcAft>
                <a:spcPts val="800"/>
              </a:spcAft>
            </a:pPr>
            <a:r>
              <a:rPr sz="2600" b="0">
                <a:solidFill>
                  <a:srgbClr val="244BDD"/>
                </a:solidFill>
                <a:latin typeface="Consolas"/>
              </a:rPr>
              <a:t>10 PRINT "SALUT!"</a:t>
            </a:r>
          </a:p>
          <a:p>
            <a:pPr>
              <a:spcAft>
                <a:spcPts val="800"/>
              </a:spcAft>
            </a:pPr>
            <a:r>
              <a:rPr sz="2600" b="0">
                <a:solidFill>
                  <a:srgbClr val="244BDD"/>
                </a:solidFill>
                <a:latin typeface="Consolas"/>
              </a:rPr>
              <a:t>20 GOTO 10</a:t>
            </a:r>
          </a:p>
        </p:txBody>
      </p:sp>
      <p:sp>
        <p:nvSpPr>
          <p:cNvPr id="13" name="TextBox 12"/>
          <p:cNvSpPr txBox="1"/>
          <p:nvPr/>
        </p:nvSpPr>
        <p:spPr>
          <a:xfrm>
            <a:off x="1024128" y="5010912"/>
            <a:ext cx="4297680" cy="320040"/>
          </a:xfrm>
          <a:prstGeom prst="rect">
            <a:avLst/>
          </a:prstGeom>
          <a:noFill/>
        </p:spPr>
        <p:txBody>
          <a:bodyPr wrap="square" lIns="22860" rIns="22860" tIns="22860" bIns="22860">
            <a:spAutoFit/>
          </a:bodyPr>
          <a:lstStyle/>
          <a:p>
            <a:pPr>
              <a:spcAft>
                <a:spcPts val="800"/>
              </a:spcAft>
            </a:pPr>
            <a:r>
              <a:rPr sz="1500" b="0">
                <a:solidFill>
                  <a:srgbClr val="526176"/>
                </a:solidFill>
                <a:latin typeface="Aptos"/>
              </a:rPr>
              <a:t>Exemplu BASIC ilustrativ</a:t>
            </a:r>
          </a:p>
        </p:txBody>
      </p:sp>
      <p:sp>
        <p:nvSpPr>
          <p:cNvPr id="14" name="TextBox 13"/>
          <p:cNvSpPr txBox="1"/>
          <p:nvPr/>
        </p:nvSpPr>
        <p:spPr>
          <a:xfrm>
            <a:off x="6217920" y="2240280"/>
            <a:ext cx="2286000" cy="987552"/>
          </a:xfrm>
          <a:prstGeom prst="rect">
            <a:avLst/>
          </a:prstGeom>
          <a:noFill/>
        </p:spPr>
        <p:txBody>
          <a:bodyPr wrap="square" lIns="22860" rIns="22860" tIns="22860" bIns="22860">
            <a:spAutoFit/>
          </a:bodyPr>
          <a:lstStyle/>
          <a:p>
            <a:pPr>
              <a:spcAft>
                <a:spcPts val="800"/>
              </a:spcAft>
            </a:pPr>
            <a:r>
              <a:rPr sz="2800" b="1">
                <a:solidFill>
                  <a:srgbClr val="FFFFFF"/>
                </a:solidFill>
                <a:latin typeface="Aptos"/>
              </a:rPr>
              <a:t>Scriam.</a:t>
            </a:r>
          </a:p>
        </p:txBody>
      </p:sp>
      <p:sp>
        <p:nvSpPr>
          <p:cNvPr id="15" name="TextBox 14"/>
          <p:cNvSpPr txBox="1"/>
          <p:nvPr/>
        </p:nvSpPr>
        <p:spPr>
          <a:xfrm>
            <a:off x="8869680" y="2240280"/>
            <a:ext cx="2286000" cy="987552"/>
          </a:xfrm>
          <a:prstGeom prst="rect">
            <a:avLst/>
          </a:prstGeom>
          <a:noFill/>
        </p:spPr>
        <p:txBody>
          <a:bodyPr wrap="square" lIns="22860" rIns="22860" tIns="22860" bIns="22860">
            <a:spAutoFit/>
          </a:bodyPr>
          <a:lstStyle/>
          <a:p>
            <a:pPr>
              <a:spcAft>
                <a:spcPts val="800"/>
              </a:spcAft>
            </a:pPr>
            <a:r>
              <a:rPr sz="2800" b="1">
                <a:solidFill>
                  <a:srgbClr val="FFFFFF"/>
                </a:solidFill>
                <a:latin typeface="Aptos"/>
              </a:rPr>
              <a:t>Prietenul</a:t>
            </a:r>
          </a:p>
          <a:p>
            <a:pPr>
              <a:spcAft>
                <a:spcPts val="800"/>
              </a:spcAft>
            </a:pPr>
            <a:r>
              <a:rPr sz="2800" b="1">
                <a:solidFill>
                  <a:srgbClr val="FFFFFF"/>
                </a:solidFill>
                <a:latin typeface="Aptos"/>
              </a:rPr>
              <a:t>incerca.</a:t>
            </a:r>
          </a:p>
        </p:txBody>
      </p:sp>
      <p:sp>
        <p:nvSpPr>
          <p:cNvPr id="16" name="TextBox 15"/>
          <p:cNvSpPr txBox="1"/>
          <p:nvPr/>
        </p:nvSpPr>
        <p:spPr>
          <a:xfrm>
            <a:off x="8869680" y="4453128"/>
            <a:ext cx="2286000" cy="987552"/>
          </a:xfrm>
          <a:prstGeom prst="rect">
            <a:avLst/>
          </a:prstGeom>
          <a:noFill/>
        </p:spPr>
        <p:txBody>
          <a:bodyPr wrap="square" lIns="22860" rIns="22860" tIns="22860" bIns="22860">
            <a:spAutoFit/>
          </a:bodyPr>
          <a:lstStyle/>
          <a:p>
            <a:pPr>
              <a:spcAft>
                <a:spcPts val="800"/>
              </a:spcAft>
            </a:pPr>
            <a:r>
              <a:rPr sz="2800" b="1">
                <a:solidFill>
                  <a:srgbClr val="D6EC79"/>
                </a:solidFill>
                <a:latin typeface="Aptos"/>
              </a:rPr>
              <a:t>Notite</a:t>
            </a:r>
          </a:p>
          <a:p>
            <a:pPr>
              <a:spcAft>
                <a:spcPts val="800"/>
              </a:spcAft>
            </a:pPr>
            <a:r>
              <a:rPr sz="2800" b="1">
                <a:solidFill>
                  <a:srgbClr val="D6EC79"/>
                </a:solidFill>
                <a:latin typeface="Aptos"/>
              </a:rPr>
              <a:t>a doua zi.</a:t>
            </a:r>
          </a:p>
        </p:txBody>
      </p:sp>
      <p:sp>
        <p:nvSpPr>
          <p:cNvPr id="17" name="TextBox 16"/>
          <p:cNvSpPr txBox="1"/>
          <p:nvPr/>
        </p:nvSpPr>
        <p:spPr>
          <a:xfrm>
            <a:off x="6217920" y="4453128"/>
            <a:ext cx="2286000" cy="987552"/>
          </a:xfrm>
          <a:prstGeom prst="rect">
            <a:avLst/>
          </a:prstGeom>
          <a:noFill/>
        </p:spPr>
        <p:txBody>
          <a:bodyPr wrap="square" lIns="22860" rIns="22860" tIns="22860" bIns="22860">
            <a:spAutoFit/>
          </a:bodyPr>
          <a:lstStyle/>
          <a:p>
            <a:pPr>
              <a:spcAft>
                <a:spcPts val="800"/>
              </a:spcAft>
            </a:pPr>
            <a:r>
              <a:rPr sz="2800" b="1">
                <a:solidFill>
                  <a:srgbClr val="D6EC79"/>
                </a:solidFill>
                <a:latin typeface="Aptos"/>
              </a:rPr>
              <a:t>Corectam.</a:t>
            </a:r>
          </a:p>
        </p:txBody>
      </p:sp>
      <p:sp>
        <p:nvSpPr>
          <p:cNvPr id="18" name="Rectangle 17"/>
          <p:cNvSpPr/>
          <p:nvPr/>
        </p:nvSpPr>
        <p:spPr>
          <a:xfrm>
            <a:off x="7909560" y="2589530"/>
            <a:ext cx="740664" cy="33020"/>
          </a:xfrm>
          <a:prstGeom prst="rect">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5400000">
            <a:off x="8567928" y="2523744"/>
            <a:ext cx="164592" cy="164592"/>
          </a:xfrm>
          <a:prstGeom prst="triangle">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813290" y="3337560"/>
            <a:ext cx="33020" cy="841248"/>
          </a:xfrm>
          <a:prstGeom prst="rect">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9747504" y="4096512"/>
            <a:ext cx="164592" cy="164592"/>
          </a:xfrm>
          <a:prstGeom prst="triangle">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2440" y="4811522"/>
            <a:ext cx="502920" cy="33020"/>
          </a:xfrm>
          <a:prstGeom prst="rect">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6200000">
            <a:off x="8010144" y="4745736"/>
            <a:ext cx="164592" cy="164592"/>
          </a:xfrm>
          <a:prstGeom prst="triangle">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96938" y="3328416"/>
            <a:ext cx="33020" cy="832103"/>
          </a:xfrm>
          <a:prstGeom prst="rect">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6931152" y="3246120"/>
            <a:ext cx="164592" cy="164592"/>
          </a:xfrm>
          <a:prstGeom prst="triangle">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06440"/>
            <a:ext cx="10881360" cy="356616"/>
          </a:xfrm>
          <a:prstGeom prst="rect">
            <a:avLst/>
          </a:prstGeom>
          <a:noFill/>
        </p:spPr>
        <p:txBody>
          <a:bodyPr wrap="square" lIns="22860" rIns="22860" tIns="22860" bIns="22860">
            <a:spAutoFit/>
          </a:bodyPr>
          <a:lstStyle/>
          <a:p>
            <a:pPr>
              <a:spcAft>
                <a:spcPts val="800"/>
              </a:spcAft>
            </a:pPr>
            <a:r>
              <a:rPr sz="2400" b="1">
                <a:solidFill>
                  <a:srgbClr val="FFFFFF"/>
                </a:solidFill>
                <a:latin typeface="Aptos"/>
              </a:rPr>
              <a:t>Un fel de remote debugging. Cu raspuns a doua zi.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182636"/>
                </a:solidFill>
                <a:latin typeface="Aptos Display"/>
              </a:rPr>
              <a:t>Voi de unde porniti?</a:t>
            </a:r>
          </a:p>
        </p:txBody>
      </p:sp>
      <p:sp>
        <p:nvSpPr>
          <p:cNvPr id="3" name="Rectangle 2"/>
          <p:cNvSpPr/>
          <p:nvPr/>
        </p:nvSpPr>
        <p:spPr>
          <a:xfrm>
            <a:off x="594360" y="6364224"/>
            <a:ext cx="10972800" cy="10972"/>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526176"/>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526176"/>
                </a:solidFill>
                <a:latin typeface="Aptos"/>
              </a:rPr>
              <a:t>2</a:t>
            </a:r>
          </a:p>
        </p:txBody>
      </p:sp>
      <p:sp>
        <p:nvSpPr>
          <p:cNvPr id="6" name="Rectangle 5"/>
          <p:cNvSpPr/>
          <p:nvPr/>
        </p:nvSpPr>
        <p:spPr>
          <a:xfrm>
            <a:off x="685800" y="1920240"/>
            <a:ext cx="566928" cy="566928"/>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965960"/>
            <a:ext cx="320040" cy="457200"/>
          </a:xfrm>
          <a:prstGeom prst="rect">
            <a:avLst/>
          </a:prstGeom>
          <a:noFill/>
        </p:spPr>
        <p:txBody>
          <a:bodyPr wrap="square" lIns="22860" rIns="22860" tIns="22860" bIns="22860">
            <a:spAutoFit/>
          </a:bodyPr>
          <a:lstStyle/>
          <a:p>
            <a:pPr>
              <a:spcAft>
                <a:spcPts val="800"/>
              </a:spcAft>
            </a:pPr>
            <a:r>
              <a:rPr sz="2500" b="1">
                <a:solidFill>
                  <a:srgbClr val="FFFFFF"/>
                </a:solidFill>
                <a:latin typeface="Aptos"/>
              </a:rPr>
              <a:t>A</a:t>
            </a:r>
          </a:p>
        </p:txBody>
      </p:sp>
      <p:sp>
        <p:nvSpPr>
          <p:cNvPr id="8" name="TextBox 7"/>
          <p:cNvSpPr txBox="1"/>
          <p:nvPr/>
        </p:nvSpPr>
        <p:spPr>
          <a:xfrm>
            <a:off x="1554480" y="1975104"/>
            <a:ext cx="9875520" cy="548640"/>
          </a:xfrm>
          <a:prstGeom prst="rect">
            <a:avLst/>
          </a:prstGeom>
          <a:noFill/>
        </p:spPr>
        <p:txBody>
          <a:bodyPr wrap="square" lIns="22860" rIns="22860" tIns="22860" bIns="22860">
            <a:spAutoFit/>
          </a:bodyPr>
          <a:lstStyle/>
          <a:p>
            <a:pPr>
              <a:spcAft>
                <a:spcPts val="800"/>
              </a:spcAft>
            </a:pPr>
            <a:r>
              <a:rPr sz="2700" b="0">
                <a:solidFill>
                  <a:srgbClr val="182636"/>
                </a:solidFill>
                <a:latin typeface="Aptos"/>
              </a:rPr>
              <a:t>Am cerut explicatii.</a:t>
            </a:r>
          </a:p>
        </p:txBody>
      </p:sp>
      <p:sp>
        <p:nvSpPr>
          <p:cNvPr id="9" name="Rectangle 8"/>
          <p:cNvSpPr/>
          <p:nvPr/>
        </p:nvSpPr>
        <p:spPr>
          <a:xfrm>
            <a:off x="685800" y="2779776"/>
            <a:ext cx="566928" cy="566928"/>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825496"/>
            <a:ext cx="320040" cy="457200"/>
          </a:xfrm>
          <a:prstGeom prst="rect">
            <a:avLst/>
          </a:prstGeom>
          <a:noFill/>
        </p:spPr>
        <p:txBody>
          <a:bodyPr wrap="square" lIns="22860" rIns="22860" tIns="22860" bIns="22860">
            <a:spAutoFit/>
          </a:bodyPr>
          <a:lstStyle/>
          <a:p>
            <a:pPr>
              <a:spcAft>
                <a:spcPts val="800"/>
              </a:spcAft>
            </a:pPr>
            <a:r>
              <a:rPr sz="2500" b="1">
                <a:solidFill>
                  <a:srgbClr val="FFFFFF"/>
                </a:solidFill>
                <a:latin typeface="Aptos"/>
              </a:rPr>
              <a:t>B</a:t>
            </a:r>
          </a:p>
        </p:txBody>
      </p:sp>
      <p:sp>
        <p:nvSpPr>
          <p:cNvPr id="11" name="TextBox 10"/>
          <p:cNvSpPr txBox="1"/>
          <p:nvPr/>
        </p:nvSpPr>
        <p:spPr>
          <a:xfrm>
            <a:off x="1554480" y="2834640"/>
            <a:ext cx="9875520" cy="548640"/>
          </a:xfrm>
          <a:prstGeom prst="rect">
            <a:avLst/>
          </a:prstGeom>
          <a:noFill/>
        </p:spPr>
        <p:txBody>
          <a:bodyPr wrap="square" lIns="22860" rIns="22860" tIns="22860" bIns="22860">
            <a:spAutoFit/>
          </a:bodyPr>
          <a:lstStyle/>
          <a:p>
            <a:pPr>
              <a:spcAft>
                <a:spcPts val="800"/>
              </a:spcAft>
            </a:pPr>
            <a:r>
              <a:rPr sz="2700" b="0">
                <a:solidFill>
                  <a:srgbClr val="182636"/>
                </a:solidFill>
                <a:latin typeface="Aptos"/>
              </a:rPr>
              <a:t>Am creat texte, imagini sau muzica.</a:t>
            </a:r>
          </a:p>
        </p:txBody>
      </p:sp>
      <p:sp>
        <p:nvSpPr>
          <p:cNvPr id="12" name="Rectangle 11"/>
          <p:cNvSpPr/>
          <p:nvPr/>
        </p:nvSpPr>
        <p:spPr>
          <a:xfrm>
            <a:off x="685800" y="3639312"/>
            <a:ext cx="566928" cy="566928"/>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3685032"/>
            <a:ext cx="320040" cy="457200"/>
          </a:xfrm>
          <a:prstGeom prst="rect">
            <a:avLst/>
          </a:prstGeom>
          <a:noFill/>
        </p:spPr>
        <p:txBody>
          <a:bodyPr wrap="square" lIns="22860" rIns="22860" tIns="22860" bIns="22860">
            <a:spAutoFit/>
          </a:bodyPr>
          <a:lstStyle/>
          <a:p>
            <a:pPr>
              <a:spcAft>
                <a:spcPts val="800"/>
              </a:spcAft>
            </a:pPr>
            <a:r>
              <a:rPr sz="2500" b="1">
                <a:solidFill>
                  <a:srgbClr val="FFFFFF"/>
                </a:solidFill>
                <a:latin typeface="Aptos"/>
              </a:rPr>
              <a:t>C</a:t>
            </a:r>
          </a:p>
        </p:txBody>
      </p:sp>
      <p:sp>
        <p:nvSpPr>
          <p:cNvPr id="14" name="TextBox 13"/>
          <p:cNvSpPr txBox="1"/>
          <p:nvPr/>
        </p:nvSpPr>
        <p:spPr>
          <a:xfrm>
            <a:off x="1554480" y="3694176"/>
            <a:ext cx="9875520" cy="548640"/>
          </a:xfrm>
          <a:prstGeom prst="rect">
            <a:avLst/>
          </a:prstGeom>
          <a:noFill/>
        </p:spPr>
        <p:txBody>
          <a:bodyPr wrap="square" lIns="22860" rIns="22860" tIns="22860" bIns="22860">
            <a:spAutoFit/>
          </a:bodyPr>
          <a:lstStyle/>
          <a:p>
            <a:pPr>
              <a:spcAft>
                <a:spcPts val="800"/>
              </a:spcAft>
            </a:pPr>
            <a:r>
              <a:rPr sz="2700" b="0">
                <a:solidFill>
                  <a:srgbClr val="182636"/>
                </a:solidFill>
                <a:latin typeface="Aptos"/>
              </a:rPr>
              <a:t>Am incercat sa construiesc ceva.</a:t>
            </a:r>
          </a:p>
        </p:txBody>
      </p:sp>
      <p:sp>
        <p:nvSpPr>
          <p:cNvPr id="15" name="Rectangle 14"/>
          <p:cNvSpPr/>
          <p:nvPr/>
        </p:nvSpPr>
        <p:spPr>
          <a:xfrm>
            <a:off x="685800" y="4498848"/>
            <a:ext cx="566928" cy="566928"/>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4544568"/>
            <a:ext cx="320040" cy="457200"/>
          </a:xfrm>
          <a:prstGeom prst="rect">
            <a:avLst/>
          </a:prstGeom>
          <a:noFill/>
        </p:spPr>
        <p:txBody>
          <a:bodyPr wrap="square" lIns="22860" rIns="22860" tIns="22860" bIns="22860">
            <a:spAutoFit/>
          </a:bodyPr>
          <a:lstStyle/>
          <a:p>
            <a:pPr>
              <a:spcAft>
                <a:spcPts val="800"/>
              </a:spcAft>
            </a:pPr>
            <a:r>
              <a:rPr sz="2500" b="1">
                <a:solidFill>
                  <a:srgbClr val="FFFFFF"/>
                </a:solidFill>
                <a:latin typeface="Aptos"/>
              </a:rPr>
              <a:t>D</a:t>
            </a:r>
          </a:p>
        </p:txBody>
      </p:sp>
      <p:sp>
        <p:nvSpPr>
          <p:cNvPr id="17" name="TextBox 16"/>
          <p:cNvSpPr txBox="1"/>
          <p:nvPr/>
        </p:nvSpPr>
        <p:spPr>
          <a:xfrm>
            <a:off x="1554480" y="4553712"/>
            <a:ext cx="9875520" cy="548640"/>
          </a:xfrm>
          <a:prstGeom prst="rect">
            <a:avLst/>
          </a:prstGeom>
          <a:noFill/>
        </p:spPr>
        <p:txBody>
          <a:bodyPr wrap="square" lIns="22860" rIns="22860" tIns="22860" bIns="22860">
            <a:spAutoFit/>
          </a:bodyPr>
          <a:lstStyle/>
          <a:p>
            <a:pPr>
              <a:spcAft>
                <a:spcPts val="800"/>
              </a:spcAft>
            </a:pPr>
            <a:r>
              <a:rPr sz="2700" b="0">
                <a:solidFill>
                  <a:srgbClr val="182636"/>
                </a:solidFill>
                <a:latin typeface="Aptos"/>
              </a:rPr>
              <a:t>Doar am testat. Sau inca nu.</a:t>
            </a:r>
          </a:p>
        </p:txBody>
      </p:sp>
      <p:sp>
        <p:nvSpPr>
          <p:cNvPr id="18" name="TextBox 17"/>
          <p:cNvSpPr txBox="1"/>
          <p:nvPr/>
        </p:nvSpPr>
        <p:spPr>
          <a:xfrm>
            <a:off x="685800" y="5696712"/>
            <a:ext cx="10698480" cy="429768"/>
          </a:xfrm>
          <a:prstGeom prst="rect">
            <a:avLst/>
          </a:prstGeom>
          <a:noFill/>
        </p:spPr>
        <p:txBody>
          <a:bodyPr wrap="square" lIns="22860" rIns="22860" tIns="22860" bIns="22860">
            <a:spAutoFit/>
          </a:bodyPr>
          <a:lstStyle/>
          <a:p>
            <a:pPr>
              <a:spcAft>
                <a:spcPts val="800"/>
              </a:spcAft>
            </a:pPr>
            <a:r>
              <a:rPr sz="2400" b="1">
                <a:solidFill>
                  <a:srgbClr val="244BDD"/>
                </a:solidFill>
                <a:latin typeface="Aptos"/>
              </a:rPr>
              <a:t>Un vot sau o litera in chat. Nu trebuie sa fi folosit deja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182636"/>
                </a:solidFill>
                <a:latin typeface="Aptos Display"/>
              </a:rPr>
              <a:t>Mai intai, o masina invata un drum.</a:t>
            </a:r>
          </a:p>
        </p:txBody>
      </p:sp>
      <p:sp>
        <p:nvSpPr>
          <p:cNvPr id="3" name="Rectangle 2"/>
          <p:cNvSpPr/>
          <p:nvPr/>
        </p:nvSpPr>
        <p:spPr>
          <a:xfrm>
            <a:off x="594360" y="6364224"/>
            <a:ext cx="10972800" cy="10972"/>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526176"/>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526176"/>
                </a:solidFill>
                <a:latin typeface="Aptos"/>
              </a:rPr>
              <a:t>3</a:t>
            </a:r>
          </a:p>
        </p:txBody>
      </p:sp>
      <p:sp>
        <p:nvSpPr>
          <p:cNvPr id="6" name="Rectangle 5"/>
          <p:cNvSpPr/>
          <p:nvPr/>
        </p:nvSpPr>
        <p:spPr>
          <a:xfrm>
            <a:off x="658368" y="1810512"/>
            <a:ext cx="4535424" cy="44074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5788" y="2807208"/>
            <a:ext cx="25400" cy="658367"/>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05788" y="3465576"/>
            <a:ext cx="25400" cy="658367"/>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05788" y="4123944"/>
            <a:ext cx="25400" cy="658368"/>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64156" y="4123944"/>
            <a:ext cx="25400" cy="658368"/>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2524" y="4123944"/>
            <a:ext cx="25400" cy="658368"/>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80892" y="4123944"/>
            <a:ext cx="25400" cy="658368"/>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605788" y="4782312"/>
            <a:ext cx="25400" cy="658367"/>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2524" y="4782312"/>
            <a:ext cx="25400" cy="658367"/>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76856" y="2794508"/>
            <a:ext cx="658367" cy="25400"/>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35224" y="2794508"/>
            <a:ext cx="658367" cy="25400"/>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76856" y="3452876"/>
            <a:ext cx="658367" cy="25400"/>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35224" y="3452876"/>
            <a:ext cx="658367" cy="25400"/>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93591" y="3452876"/>
            <a:ext cx="658367" cy="25400"/>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76856" y="4111243"/>
            <a:ext cx="658367" cy="25400"/>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593591" y="4769612"/>
            <a:ext cx="658367" cy="25400"/>
          </a:xfrm>
          <a:prstGeom prst="rect">
            <a:avLst/>
          </a:prstGeom>
          <a:solidFill>
            <a:srgbClr val="52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 y="2132965"/>
            <a:ext cx="3291839" cy="31750"/>
          </a:xfrm>
          <a:prstGeom prst="rect">
            <a:avLst/>
          </a:prstGeom>
          <a:solidFill>
            <a:srgbClr val="182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36085" y="2148840"/>
            <a:ext cx="31750" cy="3291839"/>
          </a:xfrm>
          <a:prstGeom prst="rect">
            <a:avLst/>
          </a:prstGeom>
          <a:solidFill>
            <a:srgbClr val="182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5424805"/>
            <a:ext cx="3291839" cy="31750"/>
          </a:xfrm>
          <a:prstGeom prst="rect">
            <a:avLst/>
          </a:prstGeom>
          <a:solidFill>
            <a:srgbClr val="182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4245" y="2148840"/>
            <a:ext cx="31750" cy="3291839"/>
          </a:xfrm>
          <a:prstGeom prst="rect">
            <a:avLst/>
          </a:prstGeom>
          <a:solidFill>
            <a:srgbClr val="182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89304" y="2433574"/>
            <a:ext cx="658367" cy="8890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03221" y="2478024"/>
            <a:ext cx="88900" cy="658368"/>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903221" y="3136392"/>
            <a:ext cx="88900" cy="658368"/>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947672" y="3750310"/>
            <a:ext cx="658367" cy="8890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606039" y="3750310"/>
            <a:ext cx="658368" cy="8890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19958" y="3794760"/>
            <a:ext cx="88900" cy="658367"/>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19958" y="4453128"/>
            <a:ext cx="88900" cy="658367"/>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64408" y="5067046"/>
            <a:ext cx="658367" cy="8890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93292" y="2382012"/>
            <a:ext cx="192024" cy="192024"/>
          </a:xfrm>
          <a:prstGeom prst="ellipse">
            <a:avLst/>
          </a:prstGeom>
          <a:solidFill>
            <a:srgbClr val="182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813048" y="5001768"/>
            <a:ext cx="219456" cy="219456"/>
          </a:xfrm>
          <a:prstGeom prst="ellipse">
            <a:avLst/>
          </a:prstGeom>
          <a:solidFill>
            <a:srgbClr val="182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1856231"/>
            <a:ext cx="1645920" cy="246888"/>
          </a:xfrm>
          <a:prstGeom prst="rect">
            <a:avLst/>
          </a:prstGeom>
          <a:noFill/>
        </p:spPr>
        <p:txBody>
          <a:bodyPr wrap="square" lIns="22860" rIns="22860" tIns="22860" bIns="22860">
            <a:spAutoFit/>
          </a:bodyPr>
          <a:lstStyle/>
          <a:p>
            <a:pPr>
              <a:spcAft>
                <a:spcPts val="800"/>
              </a:spcAft>
            </a:pPr>
            <a:r>
              <a:rPr sz="1400" b="1">
                <a:solidFill>
                  <a:srgbClr val="244BDD"/>
                </a:solidFill>
                <a:latin typeface="Aptos"/>
              </a:rPr>
              <a:t>START</a:t>
            </a:r>
          </a:p>
        </p:txBody>
      </p:sp>
      <p:sp>
        <p:nvSpPr>
          <p:cNvPr id="37" name="TextBox 36"/>
          <p:cNvSpPr txBox="1"/>
          <p:nvPr/>
        </p:nvSpPr>
        <p:spPr>
          <a:xfrm>
            <a:off x="3383280" y="5486400"/>
            <a:ext cx="1371600" cy="320040"/>
          </a:xfrm>
          <a:prstGeom prst="rect">
            <a:avLst/>
          </a:prstGeom>
          <a:noFill/>
        </p:spPr>
        <p:txBody>
          <a:bodyPr wrap="square" lIns="22860" rIns="22860" tIns="22860" bIns="22860">
            <a:spAutoFit/>
          </a:bodyPr>
          <a:lstStyle/>
          <a:p>
            <a:pPr>
              <a:spcAft>
                <a:spcPts val="800"/>
              </a:spcAft>
            </a:pPr>
            <a:r>
              <a:rPr sz="1400" b="1">
                <a:solidFill>
                  <a:srgbClr val="244BDD"/>
                </a:solidFill>
                <a:latin typeface="Aptos"/>
              </a:rPr>
              <a:t>IESIRE</a:t>
            </a:r>
          </a:p>
        </p:txBody>
      </p:sp>
      <p:sp>
        <p:nvSpPr>
          <p:cNvPr id="38" name="TextBox 37"/>
          <p:cNvSpPr txBox="1"/>
          <p:nvPr/>
        </p:nvSpPr>
        <p:spPr>
          <a:xfrm>
            <a:off x="960120" y="5852160"/>
            <a:ext cx="3931920" cy="274320"/>
          </a:xfrm>
          <a:prstGeom prst="rect">
            <a:avLst/>
          </a:prstGeom>
          <a:noFill/>
        </p:spPr>
        <p:txBody>
          <a:bodyPr wrap="square" lIns="22860" rIns="22860" tIns="22860" bIns="22860">
            <a:spAutoFit/>
          </a:bodyPr>
          <a:lstStyle/>
          <a:p>
            <a:pPr>
              <a:spcAft>
                <a:spcPts val="800"/>
              </a:spcAft>
            </a:pPr>
            <a:r>
              <a:rPr sz="1300" b="0">
                <a:solidFill>
                  <a:srgbClr val="526176"/>
                </a:solidFill>
                <a:latin typeface="Aptos"/>
              </a:rPr>
              <a:t>Schema ilustrativa: Theseus, 1950</a:t>
            </a:r>
          </a:p>
        </p:txBody>
      </p:sp>
      <p:sp>
        <p:nvSpPr>
          <p:cNvPr id="39" name="TextBox 38"/>
          <p:cNvSpPr txBox="1"/>
          <p:nvPr/>
        </p:nvSpPr>
        <p:spPr>
          <a:xfrm>
            <a:off x="5486400" y="1874519"/>
            <a:ext cx="1005840" cy="502920"/>
          </a:xfrm>
          <a:prstGeom prst="rect">
            <a:avLst/>
          </a:prstGeom>
          <a:noFill/>
        </p:spPr>
        <p:txBody>
          <a:bodyPr wrap="square" lIns="22860" rIns="22860" tIns="22860" bIns="22860">
            <a:spAutoFit/>
          </a:bodyPr>
          <a:lstStyle/>
          <a:p>
            <a:pPr>
              <a:spcAft>
                <a:spcPts val="800"/>
              </a:spcAft>
            </a:pPr>
            <a:r>
              <a:rPr sz="2500" b="1">
                <a:solidFill>
                  <a:srgbClr val="244BDD"/>
                </a:solidFill>
                <a:latin typeface="Aptos"/>
              </a:rPr>
              <a:t>1950</a:t>
            </a:r>
          </a:p>
        </p:txBody>
      </p:sp>
      <p:sp>
        <p:nvSpPr>
          <p:cNvPr id="40" name="TextBox 39"/>
          <p:cNvSpPr txBox="1"/>
          <p:nvPr/>
        </p:nvSpPr>
        <p:spPr>
          <a:xfrm>
            <a:off x="6510528" y="1874519"/>
            <a:ext cx="4892040" cy="502920"/>
          </a:xfrm>
          <a:prstGeom prst="rect">
            <a:avLst/>
          </a:prstGeom>
          <a:noFill/>
        </p:spPr>
        <p:txBody>
          <a:bodyPr wrap="square" lIns="22860" rIns="22860" tIns="22860" bIns="22860">
            <a:spAutoFit/>
          </a:bodyPr>
          <a:lstStyle/>
          <a:p>
            <a:pPr>
              <a:spcAft>
                <a:spcPts val="800"/>
              </a:spcAft>
            </a:pPr>
            <a:r>
              <a:rPr sz="2500" b="1">
                <a:solidFill>
                  <a:srgbClr val="182636"/>
                </a:solidFill>
                <a:latin typeface="Aptos"/>
              </a:rPr>
              <a:t>Theseus gaseste iesirea.</a:t>
            </a:r>
          </a:p>
        </p:txBody>
      </p:sp>
      <p:sp>
        <p:nvSpPr>
          <p:cNvPr id="41" name="TextBox 40"/>
          <p:cNvSpPr txBox="1"/>
          <p:nvPr/>
        </p:nvSpPr>
        <p:spPr>
          <a:xfrm>
            <a:off x="6510528" y="2441448"/>
            <a:ext cx="4892040" cy="621792"/>
          </a:xfrm>
          <a:prstGeom prst="rect">
            <a:avLst/>
          </a:prstGeom>
          <a:noFill/>
        </p:spPr>
        <p:txBody>
          <a:bodyPr wrap="square" lIns="22860" rIns="22860" tIns="22860" bIns="22860">
            <a:spAutoFit/>
          </a:bodyPr>
          <a:lstStyle/>
          <a:p>
            <a:pPr>
              <a:spcAft>
                <a:spcPts val="800"/>
              </a:spcAft>
            </a:pPr>
            <a:r>
              <a:rPr sz="2100" b="0">
                <a:solidFill>
                  <a:srgbClr val="182636"/>
                </a:solidFill>
                <a:latin typeface="Aptos"/>
              </a:rPr>
              <a:t>Claude Shannon: un labirint si memorie in relee.</a:t>
            </a:r>
          </a:p>
        </p:txBody>
      </p:sp>
      <p:sp>
        <p:nvSpPr>
          <p:cNvPr id="42" name="TextBox 41"/>
          <p:cNvSpPr txBox="1"/>
          <p:nvPr/>
        </p:nvSpPr>
        <p:spPr>
          <a:xfrm>
            <a:off x="5486400" y="3182111"/>
            <a:ext cx="1005840" cy="502920"/>
          </a:xfrm>
          <a:prstGeom prst="rect">
            <a:avLst/>
          </a:prstGeom>
          <a:noFill/>
        </p:spPr>
        <p:txBody>
          <a:bodyPr wrap="square" lIns="22860" rIns="22860" tIns="22860" bIns="22860">
            <a:spAutoFit/>
          </a:bodyPr>
          <a:lstStyle/>
          <a:p>
            <a:pPr>
              <a:spcAft>
                <a:spcPts val="800"/>
              </a:spcAft>
            </a:pPr>
            <a:r>
              <a:rPr sz="2500" b="1">
                <a:solidFill>
                  <a:srgbClr val="244BDD"/>
                </a:solidFill>
                <a:latin typeface="Aptos"/>
              </a:rPr>
              <a:t>1966</a:t>
            </a:r>
          </a:p>
        </p:txBody>
      </p:sp>
      <p:sp>
        <p:nvSpPr>
          <p:cNvPr id="43" name="TextBox 42"/>
          <p:cNvSpPr txBox="1"/>
          <p:nvPr/>
        </p:nvSpPr>
        <p:spPr>
          <a:xfrm>
            <a:off x="6510528" y="3182111"/>
            <a:ext cx="4892040" cy="502920"/>
          </a:xfrm>
          <a:prstGeom prst="rect">
            <a:avLst/>
          </a:prstGeom>
          <a:noFill/>
        </p:spPr>
        <p:txBody>
          <a:bodyPr wrap="square" lIns="22860" rIns="22860" tIns="22860" bIns="22860">
            <a:spAutoFit/>
          </a:bodyPr>
          <a:lstStyle/>
          <a:p>
            <a:pPr>
              <a:spcAft>
                <a:spcPts val="800"/>
              </a:spcAft>
            </a:pPr>
            <a:r>
              <a:rPr sz="2500" b="1">
                <a:solidFill>
                  <a:srgbClr val="182636"/>
                </a:solidFill>
                <a:latin typeface="Aptos"/>
              </a:rPr>
              <a:t>ELIZA sustine o conversatie.</a:t>
            </a:r>
          </a:p>
        </p:txBody>
      </p:sp>
      <p:sp>
        <p:nvSpPr>
          <p:cNvPr id="44" name="TextBox 43"/>
          <p:cNvSpPr txBox="1"/>
          <p:nvPr/>
        </p:nvSpPr>
        <p:spPr>
          <a:xfrm>
            <a:off x="6510528" y="3749039"/>
            <a:ext cx="4892040" cy="621792"/>
          </a:xfrm>
          <a:prstGeom prst="rect">
            <a:avLst/>
          </a:prstGeom>
          <a:noFill/>
        </p:spPr>
        <p:txBody>
          <a:bodyPr wrap="square" lIns="22860" rIns="22860" tIns="22860" bIns="22860">
            <a:spAutoFit/>
          </a:bodyPr>
          <a:lstStyle/>
          <a:p>
            <a:pPr>
              <a:spcAft>
                <a:spcPts val="800"/>
              </a:spcAft>
            </a:pPr>
            <a:r>
              <a:rPr sz="2100" b="0">
                <a:solidFill>
                  <a:srgbClr val="182636"/>
                </a:solidFill>
                <a:latin typeface="Aptos"/>
              </a:rPr>
              <a:t>Joseph Weizenbaum: reguli si tipare de limbaj.</a:t>
            </a:r>
          </a:p>
        </p:txBody>
      </p:sp>
      <p:sp>
        <p:nvSpPr>
          <p:cNvPr id="45" name="TextBox 44"/>
          <p:cNvSpPr txBox="1"/>
          <p:nvPr/>
        </p:nvSpPr>
        <p:spPr>
          <a:xfrm>
            <a:off x="5486400" y="4489704"/>
            <a:ext cx="1005840" cy="502920"/>
          </a:xfrm>
          <a:prstGeom prst="rect">
            <a:avLst/>
          </a:prstGeom>
          <a:noFill/>
        </p:spPr>
        <p:txBody>
          <a:bodyPr wrap="square" lIns="22860" rIns="22860" tIns="22860" bIns="22860">
            <a:spAutoFit/>
          </a:bodyPr>
          <a:lstStyle/>
          <a:p>
            <a:pPr>
              <a:spcAft>
                <a:spcPts val="800"/>
              </a:spcAft>
            </a:pPr>
            <a:r>
              <a:rPr sz="2500" b="1">
                <a:solidFill>
                  <a:srgbClr val="244BDD"/>
                </a:solidFill>
                <a:latin typeface="Aptos"/>
              </a:rPr>
              <a:t>2022</a:t>
            </a:r>
          </a:p>
        </p:txBody>
      </p:sp>
      <p:sp>
        <p:nvSpPr>
          <p:cNvPr id="46" name="TextBox 45"/>
          <p:cNvSpPr txBox="1"/>
          <p:nvPr/>
        </p:nvSpPr>
        <p:spPr>
          <a:xfrm>
            <a:off x="6510528" y="4489704"/>
            <a:ext cx="4892040" cy="502920"/>
          </a:xfrm>
          <a:prstGeom prst="rect">
            <a:avLst/>
          </a:prstGeom>
          <a:noFill/>
        </p:spPr>
        <p:txBody>
          <a:bodyPr wrap="square" lIns="22860" rIns="22860" tIns="22860" bIns="22860">
            <a:spAutoFit/>
          </a:bodyPr>
          <a:lstStyle/>
          <a:p>
            <a:pPr>
              <a:spcAft>
                <a:spcPts val="800"/>
              </a:spcAft>
            </a:pPr>
            <a:r>
              <a:rPr sz="2500" b="1">
                <a:solidFill>
                  <a:srgbClr val="182636"/>
                </a:solidFill>
                <a:latin typeface="Aptos"/>
              </a:rPr>
              <a:t>ChatGPT ajunge la public.</a:t>
            </a:r>
          </a:p>
        </p:txBody>
      </p:sp>
      <p:sp>
        <p:nvSpPr>
          <p:cNvPr id="47" name="TextBox 46"/>
          <p:cNvSpPr txBox="1"/>
          <p:nvPr/>
        </p:nvSpPr>
        <p:spPr>
          <a:xfrm>
            <a:off x="6510528" y="5056632"/>
            <a:ext cx="4892040" cy="621792"/>
          </a:xfrm>
          <a:prstGeom prst="rect">
            <a:avLst/>
          </a:prstGeom>
          <a:noFill/>
        </p:spPr>
        <p:txBody>
          <a:bodyPr wrap="square" lIns="22860" rIns="22860" tIns="22860" bIns="22860">
            <a:spAutoFit/>
          </a:bodyPr>
          <a:lstStyle/>
          <a:p>
            <a:pPr>
              <a:spcAft>
                <a:spcPts val="800"/>
              </a:spcAft>
            </a:pPr>
            <a:r>
              <a:rPr sz="2100" b="0">
                <a:solidFill>
                  <a:srgbClr val="182636"/>
                </a:solidFill>
                <a:latin typeface="Aptos"/>
              </a:rPr>
              <a:t>O interfata simpla face experimentarea accesibila.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182636"/>
                </a:solidFill>
                <a:latin typeface="Aptos Display"/>
              </a:rPr>
              <a:t>La biblioteca am deschis...</a:t>
            </a:r>
          </a:p>
        </p:txBody>
      </p:sp>
      <p:sp>
        <p:nvSpPr>
          <p:cNvPr id="3" name="Rectangle 2"/>
          <p:cNvSpPr/>
          <p:nvPr/>
        </p:nvSpPr>
        <p:spPr>
          <a:xfrm>
            <a:off x="594360" y="6364224"/>
            <a:ext cx="10972800" cy="10972"/>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526176"/>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526176"/>
                </a:solidFill>
                <a:latin typeface="Aptos"/>
              </a:rPr>
              <a:t>4</a:t>
            </a:r>
          </a:p>
        </p:txBody>
      </p:sp>
      <p:sp>
        <p:nvSpPr>
          <p:cNvPr id="6" name="TextBox 5"/>
          <p:cNvSpPr txBox="1"/>
          <p:nvPr/>
        </p:nvSpPr>
        <p:spPr>
          <a:xfrm>
            <a:off x="685800" y="2240280"/>
            <a:ext cx="3200400" cy="548640"/>
          </a:xfrm>
          <a:prstGeom prst="rect">
            <a:avLst/>
          </a:prstGeom>
          <a:noFill/>
        </p:spPr>
        <p:txBody>
          <a:bodyPr wrap="square" lIns="22860" rIns="22860" tIns="22860" bIns="22860">
            <a:spAutoFit/>
          </a:bodyPr>
          <a:lstStyle/>
          <a:p>
            <a:pPr>
              <a:spcAft>
                <a:spcPts val="800"/>
              </a:spcAft>
            </a:pPr>
            <a:r>
              <a:rPr sz="3500" b="1">
                <a:solidFill>
                  <a:srgbClr val="244BDD"/>
                </a:solidFill>
                <a:latin typeface="Aptos"/>
              </a:rPr>
              <a:t>A</a:t>
            </a:r>
          </a:p>
        </p:txBody>
      </p:sp>
      <p:sp>
        <p:nvSpPr>
          <p:cNvPr id="7" name="TextBox 6"/>
          <p:cNvSpPr txBox="1"/>
          <p:nvPr/>
        </p:nvSpPr>
        <p:spPr>
          <a:xfrm>
            <a:off x="685800" y="3063240"/>
            <a:ext cx="3200400" cy="777240"/>
          </a:xfrm>
          <a:prstGeom prst="rect">
            <a:avLst/>
          </a:prstGeom>
          <a:noFill/>
        </p:spPr>
        <p:txBody>
          <a:bodyPr wrap="square" lIns="22860" rIns="22860" tIns="22860" bIns="22860">
            <a:spAutoFit/>
          </a:bodyPr>
          <a:lstStyle/>
          <a:p>
            <a:pPr>
              <a:spcAft>
                <a:spcPts val="800"/>
              </a:spcAft>
            </a:pPr>
            <a:r>
              <a:rPr sz="3200" b="1">
                <a:solidFill>
                  <a:srgbClr val="182636"/>
                </a:solidFill>
                <a:latin typeface="Aptos"/>
              </a:rPr>
              <a:t>o carte</a:t>
            </a:r>
          </a:p>
        </p:txBody>
      </p:sp>
      <p:sp>
        <p:nvSpPr>
          <p:cNvPr id="8" name="TextBox 7"/>
          <p:cNvSpPr txBox="1"/>
          <p:nvPr/>
        </p:nvSpPr>
        <p:spPr>
          <a:xfrm>
            <a:off x="4434840" y="2240280"/>
            <a:ext cx="3200400" cy="548640"/>
          </a:xfrm>
          <a:prstGeom prst="rect">
            <a:avLst/>
          </a:prstGeom>
          <a:noFill/>
        </p:spPr>
        <p:txBody>
          <a:bodyPr wrap="square" lIns="22860" rIns="22860" tIns="22860" bIns="22860">
            <a:spAutoFit/>
          </a:bodyPr>
          <a:lstStyle/>
          <a:p>
            <a:pPr>
              <a:spcAft>
                <a:spcPts val="800"/>
              </a:spcAft>
            </a:pPr>
            <a:r>
              <a:rPr sz="3500" b="1">
                <a:solidFill>
                  <a:srgbClr val="244BDD"/>
                </a:solidFill>
                <a:latin typeface="Aptos"/>
              </a:rPr>
              <a:t>B</a:t>
            </a:r>
          </a:p>
        </p:txBody>
      </p:sp>
      <p:sp>
        <p:nvSpPr>
          <p:cNvPr id="9" name="TextBox 8"/>
          <p:cNvSpPr txBox="1"/>
          <p:nvPr/>
        </p:nvSpPr>
        <p:spPr>
          <a:xfrm>
            <a:off x="4434840" y="3063240"/>
            <a:ext cx="3200400" cy="777240"/>
          </a:xfrm>
          <a:prstGeom prst="rect">
            <a:avLst/>
          </a:prstGeom>
          <a:noFill/>
        </p:spPr>
        <p:txBody>
          <a:bodyPr wrap="square" lIns="22860" rIns="22860" tIns="22860" bIns="22860">
            <a:spAutoFit/>
          </a:bodyPr>
          <a:lstStyle/>
          <a:p>
            <a:pPr>
              <a:spcAft>
                <a:spcPts val="800"/>
              </a:spcAft>
            </a:pPr>
            <a:r>
              <a:rPr sz="3200" b="1">
                <a:solidFill>
                  <a:srgbClr val="182636"/>
                </a:solidFill>
                <a:latin typeface="Aptos"/>
              </a:rPr>
              <a:t>un laptop</a:t>
            </a:r>
          </a:p>
        </p:txBody>
      </p:sp>
      <p:sp>
        <p:nvSpPr>
          <p:cNvPr id="10" name="TextBox 9"/>
          <p:cNvSpPr txBox="1"/>
          <p:nvPr/>
        </p:nvSpPr>
        <p:spPr>
          <a:xfrm>
            <a:off x="8183879" y="2240280"/>
            <a:ext cx="3200400" cy="548640"/>
          </a:xfrm>
          <a:prstGeom prst="rect">
            <a:avLst/>
          </a:prstGeom>
          <a:noFill/>
        </p:spPr>
        <p:txBody>
          <a:bodyPr wrap="square" lIns="22860" rIns="22860" tIns="22860" bIns="22860">
            <a:spAutoFit/>
          </a:bodyPr>
          <a:lstStyle/>
          <a:p>
            <a:pPr>
              <a:spcAft>
                <a:spcPts val="800"/>
              </a:spcAft>
            </a:pPr>
            <a:r>
              <a:rPr sz="3500" b="1">
                <a:solidFill>
                  <a:srgbClr val="244BDD"/>
                </a:solidFill>
                <a:latin typeface="Aptos"/>
              </a:rPr>
              <a:t>C</a:t>
            </a:r>
          </a:p>
        </p:txBody>
      </p:sp>
      <p:sp>
        <p:nvSpPr>
          <p:cNvPr id="11" name="TextBox 10"/>
          <p:cNvSpPr txBox="1"/>
          <p:nvPr/>
        </p:nvSpPr>
        <p:spPr>
          <a:xfrm>
            <a:off x="8183879" y="3063240"/>
            <a:ext cx="3200400" cy="777240"/>
          </a:xfrm>
          <a:prstGeom prst="rect">
            <a:avLst/>
          </a:prstGeom>
          <a:noFill/>
        </p:spPr>
        <p:txBody>
          <a:bodyPr wrap="square" lIns="22860" rIns="22860" tIns="22860" bIns="22860">
            <a:spAutoFit/>
          </a:bodyPr>
          <a:lstStyle/>
          <a:p>
            <a:pPr>
              <a:spcAft>
                <a:spcPts val="800"/>
              </a:spcAft>
            </a:pPr>
            <a:r>
              <a:rPr sz="3200" b="1">
                <a:solidFill>
                  <a:srgbClr val="182636"/>
                </a:solidFill>
                <a:latin typeface="Aptos"/>
              </a:rPr>
              <a:t>o umbrela</a:t>
            </a:r>
          </a:p>
        </p:txBody>
      </p:sp>
      <p:sp>
        <p:nvSpPr>
          <p:cNvPr id="12" name="Rectangle 11"/>
          <p:cNvSpPr/>
          <p:nvPr/>
        </p:nvSpPr>
        <p:spPr>
          <a:xfrm>
            <a:off x="685800" y="4206240"/>
            <a:ext cx="10881360" cy="22860"/>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690872"/>
            <a:ext cx="10607040" cy="941832"/>
          </a:xfrm>
          <a:prstGeom prst="rect">
            <a:avLst/>
          </a:prstGeom>
          <a:noFill/>
        </p:spPr>
        <p:txBody>
          <a:bodyPr wrap="square" lIns="22860" rIns="22860" tIns="22860" bIns="22860">
            <a:spAutoFit/>
          </a:bodyPr>
          <a:lstStyle/>
          <a:p>
            <a:pPr>
              <a:spcAft>
                <a:spcPts val="800"/>
              </a:spcAft>
            </a:pPr>
            <a:r>
              <a:rPr sz="3000" b="1">
                <a:solidFill>
                  <a:srgbClr val="244BDD"/>
                </a:solidFill>
                <a:latin typeface="Aptos"/>
              </a:rPr>
              <a:t>Contextul schimba ce continuare ni se pare plauzibila.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182636"/>
                </a:solidFill>
                <a:latin typeface="Aptos Display"/>
              </a:rPr>
              <a:t>Un fragment. Apoi inca unul.</a:t>
            </a:r>
          </a:p>
        </p:txBody>
      </p:sp>
      <p:sp>
        <p:nvSpPr>
          <p:cNvPr id="3" name="Rectangle 2"/>
          <p:cNvSpPr/>
          <p:nvPr/>
        </p:nvSpPr>
        <p:spPr>
          <a:xfrm>
            <a:off x="594360" y="6364224"/>
            <a:ext cx="10972800" cy="10972"/>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526176"/>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526176"/>
                </a:solidFill>
                <a:latin typeface="Aptos"/>
              </a:rPr>
              <a:t>5</a:t>
            </a:r>
          </a:p>
        </p:txBody>
      </p:sp>
      <p:sp>
        <p:nvSpPr>
          <p:cNvPr id="6" name="Rectangle 5"/>
          <p:cNvSpPr/>
          <p:nvPr/>
        </p:nvSpPr>
        <p:spPr>
          <a:xfrm>
            <a:off x="731520" y="2103120"/>
            <a:ext cx="3017520"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22576"/>
            <a:ext cx="2743200" cy="640080"/>
          </a:xfrm>
          <a:prstGeom prst="rect">
            <a:avLst/>
          </a:prstGeom>
          <a:noFill/>
        </p:spPr>
        <p:txBody>
          <a:bodyPr wrap="square" lIns="22860" rIns="22860" tIns="22860" bIns="22860">
            <a:spAutoFit/>
          </a:bodyPr>
          <a:lstStyle/>
          <a:p>
            <a:pPr>
              <a:spcAft>
                <a:spcPts val="800"/>
              </a:spcAft>
            </a:pPr>
            <a:r>
              <a:rPr sz="2600" b="1">
                <a:solidFill>
                  <a:srgbClr val="244BDD"/>
                </a:solidFill>
                <a:latin typeface="Aptos"/>
              </a:rPr>
              <a:t>Context</a:t>
            </a:r>
          </a:p>
        </p:txBody>
      </p:sp>
      <p:sp>
        <p:nvSpPr>
          <p:cNvPr id="8" name="TextBox 7"/>
          <p:cNvSpPr txBox="1"/>
          <p:nvPr/>
        </p:nvSpPr>
        <p:spPr>
          <a:xfrm>
            <a:off x="868680" y="3044952"/>
            <a:ext cx="2743200" cy="594360"/>
          </a:xfrm>
          <a:prstGeom prst="rect">
            <a:avLst/>
          </a:prstGeom>
          <a:noFill/>
        </p:spPr>
        <p:txBody>
          <a:bodyPr wrap="square" lIns="22860" rIns="22860" tIns="22860" bIns="22860">
            <a:spAutoFit/>
          </a:bodyPr>
          <a:lstStyle/>
          <a:p>
            <a:pPr>
              <a:spcAft>
                <a:spcPts val="800"/>
              </a:spcAft>
            </a:pPr>
            <a:r>
              <a:rPr sz="2200" b="0">
                <a:solidFill>
                  <a:srgbClr val="182636"/>
                </a:solidFill>
                <a:latin typeface="Aptos"/>
              </a:rPr>
              <a:t>"La biblioteca am..."</a:t>
            </a:r>
          </a:p>
        </p:txBody>
      </p:sp>
      <p:sp>
        <p:nvSpPr>
          <p:cNvPr id="9" name="Rectangle 8"/>
          <p:cNvSpPr/>
          <p:nvPr/>
        </p:nvSpPr>
        <p:spPr>
          <a:xfrm>
            <a:off x="4572000" y="2103120"/>
            <a:ext cx="3017520"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322576"/>
            <a:ext cx="2743200" cy="640080"/>
          </a:xfrm>
          <a:prstGeom prst="rect">
            <a:avLst/>
          </a:prstGeom>
          <a:noFill/>
        </p:spPr>
        <p:txBody>
          <a:bodyPr wrap="square" lIns="22860" rIns="22860" tIns="22860" bIns="22860">
            <a:spAutoFit/>
          </a:bodyPr>
          <a:lstStyle/>
          <a:p>
            <a:pPr>
              <a:spcAft>
                <a:spcPts val="800"/>
              </a:spcAft>
            </a:pPr>
            <a:r>
              <a:rPr sz="2600" b="1">
                <a:solidFill>
                  <a:srgbClr val="244BDD"/>
                </a:solidFill>
                <a:latin typeface="Aptos"/>
              </a:rPr>
              <a:t>Continuari posibile</a:t>
            </a:r>
          </a:p>
        </p:txBody>
      </p:sp>
      <p:sp>
        <p:nvSpPr>
          <p:cNvPr id="11" name="TextBox 10"/>
          <p:cNvSpPr txBox="1"/>
          <p:nvPr/>
        </p:nvSpPr>
        <p:spPr>
          <a:xfrm>
            <a:off x="4709160" y="3044952"/>
            <a:ext cx="2743200" cy="594360"/>
          </a:xfrm>
          <a:prstGeom prst="rect">
            <a:avLst/>
          </a:prstGeom>
          <a:noFill/>
        </p:spPr>
        <p:txBody>
          <a:bodyPr wrap="square" lIns="22860" rIns="22860" tIns="22860" bIns="22860">
            <a:spAutoFit/>
          </a:bodyPr>
          <a:lstStyle/>
          <a:p>
            <a:pPr>
              <a:spcAft>
                <a:spcPts val="800"/>
              </a:spcAft>
            </a:pPr>
            <a:r>
              <a:rPr sz="2200" b="0">
                <a:solidFill>
                  <a:srgbClr val="182636"/>
                </a:solidFill>
                <a:latin typeface="Aptos"/>
              </a:rPr>
              <a:t>Modelul evalueaza variante.</a:t>
            </a:r>
          </a:p>
        </p:txBody>
      </p:sp>
      <p:sp>
        <p:nvSpPr>
          <p:cNvPr id="12" name="Rectangle 11"/>
          <p:cNvSpPr/>
          <p:nvPr/>
        </p:nvSpPr>
        <p:spPr>
          <a:xfrm>
            <a:off x="8412480" y="2103120"/>
            <a:ext cx="3017520"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49640" y="2322576"/>
            <a:ext cx="2743200" cy="640080"/>
          </a:xfrm>
          <a:prstGeom prst="rect">
            <a:avLst/>
          </a:prstGeom>
          <a:noFill/>
        </p:spPr>
        <p:txBody>
          <a:bodyPr wrap="square" lIns="22860" rIns="22860" tIns="22860" bIns="22860">
            <a:spAutoFit/>
          </a:bodyPr>
          <a:lstStyle/>
          <a:p>
            <a:pPr>
              <a:spcAft>
                <a:spcPts val="800"/>
              </a:spcAft>
            </a:pPr>
            <a:r>
              <a:rPr sz="2600" b="1">
                <a:solidFill>
                  <a:srgbClr val="244BDD"/>
                </a:solidFill>
                <a:latin typeface="Aptos"/>
              </a:rPr>
              <a:t>Token nou</a:t>
            </a:r>
          </a:p>
        </p:txBody>
      </p:sp>
      <p:sp>
        <p:nvSpPr>
          <p:cNvPr id="14" name="TextBox 13"/>
          <p:cNvSpPr txBox="1"/>
          <p:nvPr/>
        </p:nvSpPr>
        <p:spPr>
          <a:xfrm>
            <a:off x="8549640" y="3044952"/>
            <a:ext cx="2743200" cy="594360"/>
          </a:xfrm>
          <a:prstGeom prst="rect">
            <a:avLst/>
          </a:prstGeom>
          <a:noFill/>
        </p:spPr>
        <p:txBody>
          <a:bodyPr wrap="square" lIns="22860" rIns="22860" tIns="22860" bIns="22860">
            <a:spAutoFit/>
          </a:bodyPr>
          <a:lstStyle/>
          <a:p>
            <a:pPr>
              <a:spcAft>
                <a:spcPts val="800"/>
              </a:spcAft>
            </a:pPr>
            <a:r>
              <a:rPr sz="2200" b="0">
                <a:solidFill>
                  <a:srgbClr val="182636"/>
                </a:solidFill>
                <a:latin typeface="Aptos"/>
              </a:rPr>
              <a:t>"deschis"</a:t>
            </a:r>
          </a:p>
        </p:txBody>
      </p:sp>
      <p:sp>
        <p:nvSpPr>
          <p:cNvPr id="15" name="Rectangle 14"/>
          <p:cNvSpPr/>
          <p:nvPr/>
        </p:nvSpPr>
        <p:spPr>
          <a:xfrm>
            <a:off x="3858768" y="2835148"/>
            <a:ext cx="548640" cy="3556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5400000">
            <a:off x="4325112" y="2770632"/>
            <a:ext cx="164592" cy="164592"/>
          </a:xfrm>
          <a:prstGeom prst="triangle">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9248" y="2835148"/>
            <a:ext cx="548639" cy="3556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5400000">
            <a:off x="8165592" y="2770632"/>
            <a:ext cx="164592" cy="164592"/>
          </a:xfrm>
          <a:prstGeom prst="triangle">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903460" y="3822191"/>
            <a:ext cx="35560" cy="612647"/>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4417059"/>
            <a:ext cx="2240279" cy="3556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6200000">
            <a:off x="7598664" y="4352544"/>
            <a:ext cx="164592" cy="164592"/>
          </a:xfrm>
          <a:prstGeom prst="triangle">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794760" y="3913632"/>
            <a:ext cx="3767328" cy="1261872"/>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59352" y="4050791"/>
            <a:ext cx="3438144" cy="393192"/>
          </a:xfrm>
          <a:prstGeom prst="rect">
            <a:avLst/>
          </a:prstGeom>
          <a:noFill/>
        </p:spPr>
        <p:txBody>
          <a:bodyPr wrap="square" lIns="22860" rIns="22860" tIns="22860" bIns="22860">
            <a:spAutoFit/>
          </a:bodyPr>
          <a:lstStyle/>
          <a:p>
            <a:pPr>
              <a:spcAft>
                <a:spcPts val="800"/>
              </a:spcAft>
            </a:pPr>
            <a:r>
              <a:rPr sz="2500" b="1">
                <a:solidFill>
                  <a:srgbClr val="FFFFFF"/>
                </a:solidFill>
                <a:latin typeface="Aptos"/>
              </a:rPr>
              <a:t>Context actualizat</a:t>
            </a:r>
          </a:p>
        </p:txBody>
      </p:sp>
      <p:sp>
        <p:nvSpPr>
          <p:cNvPr id="24" name="TextBox 23"/>
          <p:cNvSpPr txBox="1"/>
          <p:nvPr/>
        </p:nvSpPr>
        <p:spPr>
          <a:xfrm>
            <a:off x="3959352" y="4581144"/>
            <a:ext cx="3438144" cy="411480"/>
          </a:xfrm>
          <a:prstGeom prst="rect">
            <a:avLst/>
          </a:prstGeom>
          <a:noFill/>
        </p:spPr>
        <p:txBody>
          <a:bodyPr wrap="square" lIns="22860" rIns="22860" tIns="22860" bIns="22860">
            <a:spAutoFit/>
          </a:bodyPr>
          <a:lstStyle/>
          <a:p>
            <a:pPr>
              <a:spcAft>
                <a:spcPts val="800"/>
              </a:spcAft>
            </a:pPr>
            <a:r>
              <a:rPr sz="2000" b="0">
                <a:solidFill>
                  <a:srgbClr val="FFFFFF"/>
                </a:solidFill>
                <a:latin typeface="Aptos"/>
              </a:rPr>
              <a:t>"La biblioteca am deschis..."</a:t>
            </a:r>
          </a:p>
        </p:txBody>
      </p:sp>
      <p:sp>
        <p:nvSpPr>
          <p:cNvPr id="25" name="Rectangle 24"/>
          <p:cNvSpPr/>
          <p:nvPr/>
        </p:nvSpPr>
        <p:spPr>
          <a:xfrm>
            <a:off x="2240280" y="4417059"/>
            <a:ext cx="1435607" cy="3556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22500" y="3822191"/>
            <a:ext cx="35560" cy="612647"/>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2157984" y="3739896"/>
            <a:ext cx="164592" cy="164592"/>
          </a:xfrm>
          <a:prstGeom prst="triangle">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687568"/>
            <a:ext cx="10515600" cy="411480"/>
          </a:xfrm>
          <a:prstGeom prst="rect">
            <a:avLst/>
          </a:prstGeom>
          <a:noFill/>
        </p:spPr>
        <p:txBody>
          <a:bodyPr wrap="square" lIns="22860" rIns="22860" tIns="22860" bIns="22860">
            <a:spAutoFit/>
          </a:bodyPr>
          <a:lstStyle/>
          <a:p>
            <a:pPr>
              <a:spcAft>
                <a:spcPts val="800"/>
              </a:spcAft>
            </a:pPr>
            <a:r>
              <a:rPr sz="2500" b="1">
                <a:solidFill>
                  <a:srgbClr val="182636"/>
                </a:solidFill>
                <a:latin typeface="Aptos"/>
              </a:rPr>
              <a:t>Un token este un fragment de text. Procesul se repeta.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182636"/>
                </a:solidFill>
                <a:latin typeface="Aptos Display"/>
              </a:rPr>
              <a:t>O idee poate deveni o pagina.</a:t>
            </a:r>
          </a:p>
        </p:txBody>
      </p:sp>
      <p:sp>
        <p:nvSpPr>
          <p:cNvPr id="3" name="Rectangle 2"/>
          <p:cNvSpPr/>
          <p:nvPr/>
        </p:nvSpPr>
        <p:spPr>
          <a:xfrm>
            <a:off x="594360" y="6364224"/>
            <a:ext cx="10972800" cy="10972"/>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526176"/>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526176"/>
                </a:solidFill>
                <a:latin typeface="Aptos"/>
              </a:rPr>
              <a:t>6</a:t>
            </a:r>
          </a:p>
        </p:txBody>
      </p:sp>
      <p:pic>
        <p:nvPicPr>
          <p:cNvPr id="6" name="Picture 5" descr="Captura decupata a paginii pregatite Atelier de idei, cu titlul si ilustratia; nu este output live din Copilot."/>
          <p:cNvPicPr>
            <a:picLocks noChangeAspect="1"/>
          </p:cNvPicPr>
          <p:nvPr/>
        </p:nvPicPr>
        <p:blipFill>
          <a:blip r:embed="rId2"/>
          <a:stretch>
            <a:fillRect/>
          </a:stretch>
        </p:blipFill>
        <p:spPr>
          <a:xfrm>
            <a:off x="693911" y="1801368"/>
            <a:ext cx="6796056" cy="2743200"/>
          </a:xfrm>
          <a:prstGeom prst="rect">
            <a:avLst/>
          </a:prstGeom>
        </p:spPr>
      </p:pic>
      <p:sp>
        <p:nvSpPr>
          <p:cNvPr id="7" name="TextBox 6"/>
          <p:cNvSpPr txBox="1"/>
          <p:nvPr/>
        </p:nvSpPr>
        <p:spPr>
          <a:xfrm>
            <a:off x="7909560" y="2029968"/>
            <a:ext cx="3566160" cy="2121408"/>
          </a:xfrm>
          <a:prstGeom prst="rect">
            <a:avLst/>
          </a:prstGeom>
          <a:noFill/>
        </p:spPr>
        <p:txBody>
          <a:bodyPr wrap="square" lIns="22860" rIns="22860" tIns="22860" bIns="22860">
            <a:spAutoFit/>
          </a:bodyPr>
          <a:lstStyle/>
          <a:p>
            <a:pPr>
              <a:spcAft>
                <a:spcPts val="800"/>
              </a:spcAft>
            </a:pPr>
            <a:r>
              <a:rPr sz="2700" b="1">
                <a:solidFill>
                  <a:srgbClr val="244BDD"/>
                </a:solidFill>
                <a:latin typeface="Aptos"/>
              </a:rPr>
              <a:t>Ce trebuie sa afli</a:t>
            </a:r>
          </a:p>
          <a:p>
            <a:pPr>
              <a:spcAft>
                <a:spcPts val="800"/>
              </a:spcAft>
            </a:pPr>
            <a:r>
              <a:rPr sz="2700" b="1">
                <a:solidFill>
                  <a:srgbClr val="244BDD"/>
                </a:solidFill>
                <a:latin typeface="Aptos"/>
              </a:rPr>
              <a:t>ca sa decizi daca</a:t>
            </a:r>
          </a:p>
          <a:p>
            <a:pPr>
              <a:spcAft>
                <a:spcPts val="800"/>
              </a:spcAft>
            </a:pPr>
            <a:r>
              <a:rPr sz="2700" b="1">
                <a:solidFill>
                  <a:srgbClr val="244BDD"/>
                </a:solidFill>
                <a:latin typeface="Aptos"/>
              </a:rPr>
              <a:t>vrei sa participi?</a:t>
            </a:r>
          </a:p>
        </p:txBody>
      </p:sp>
      <p:pic>
        <p:nvPicPr>
          <p:cNvPr id="8" name="Picture 7" descr="Detalii din acelasi exemplu fictiv, marite: 30 octombrie 2026, 17-19, sala de festivitati, acces gratuit."/>
          <p:cNvPicPr>
            <a:picLocks noChangeAspect="1"/>
          </p:cNvPicPr>
          <p:nvPr/>
        </p:nvPicPr>
        <p:blipFill>
          <a:blip r:embed="rId3"/>
          <a:stretch>
            <a:fillRect/>
          </a:stretch>
        </p:blipFill>
        <p:spPr>
          <a:xfrm>
            <a:off x="731520" y="4619169"/>
            <a:ext cx="10698480" cy="1304692"/>
          </a:xfrm>
          <a:prstGeom prst="rect">
            <a:avLst/>
          </a:prstGeom>
        </p:spPr>
      </p:pic>
      <p:sp>
        <p:nvSpPr>
          <p:cNvPr id="9" name="TextBox 8"/>
          <p:cNvSpPr txBox="1"/>
          <p:nvPr/>
        </p:nvSpPr>
        <p:spPr>
          <a:xfrm>
            <a:off x="731520" y="5989320"/>
            <a:ext cx="10424160" cy="256032"/>
          </a:xfrm>
          <a:prstGeom prst="rect">
            <a:avLst/>
          </a:prstGeom>
          <a:noFill/>
        </p:spPr>
        <p:txBody>
          <a:bodyPr wrap="square" lIns="22860" rIns="22860" tIns="22860" bIns="22860">
            <a:spAutoFit/>
          </a:bodyPr>
          <a:lstStyle/>
          <a:p>
            <a:pPr>
              <a:spcAft>
                <a:spcPts val="800"/>
              </a:spcAft>
            </a:pPr>
            <a:r>
              <a:rPr sz="1500" b="0">
                <a:solidFill>
                  <a:srgbClr val="526176"/>
                </a:solidFill>
                <a:latin typeface="Aptos"/>
              </a:rPr>
              <a:t>Capturi ale exemplului pregatit, cu detaliile marite. Eveniment fictiv.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82636"/>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FFFFFF"/>
                </a:solidFill>
                <a:latin typeface="Aptos Display"/>
              </a:rPr>
              <a:t>Sa vedem ce intelege dintr-o idee.</a:t>
            </a:r>
          </a:p>
        </p:txBody>
      </p:sp>
      <p:sp>
        <p:nvSpPr>
          <p:cNvPr id="3" name="Rectangle 2"/>
          <p:cNvSpPr/>
          <p:nvPr/>
        </p:nvSpPr>
        <p:spPr>
          <a:xfrm>
            <a:off x="594360" y="6364224"/>
            <a:ext cx="10972800" cy="10972"/>
          </a:xfrm>
          <a:prstGeom prst="rect">
            <a:avLst/>
          </a:prstGeom>
          <a:solidFill>
            <a:srgbClr val="8190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CDD6E1"/>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FFFFFF"/>
                </a:solidFill>
                <a:latin typeface="Aptos"/>
              </a:rPr>
              <a:t>7</a:t>
            </a:r>
          </a:p>
        </p:txBody>
      </p:sp>
      <p:sp>
        <p:nvSpPr>
          <p:cNvPr id="6" name="TextBox 5"/>
          <p:cNvSpPr txBox="1"/>
          <p:nvPr/>
        </p:nvSpPr>
        <p:spPr>
          <a:xfrm>
            <a:off x="777240" y="2057400"/>
            <a:ext cx="10424160" cy="1417320"/>
          </a:xfrm>
          <a:prstGeom prst="rect">
            <a:avLst/>
          </a:prstGeom>
          <a:noFill/>
        </p:spPr>
        <p:txBody>
          <a:bodyPr wrap="square" lIns="22860" rIns="22860" tIns="22860" bIns="22860">
            <a:spAutoFit/>
          </a:bodyPr>
          <a:lstStyle/>
          <a:p>
            <a:pPr>
              <a:spcAft>
                <a:spcPts val="800"/>
              </a:spcAft>
            </a:pPr>
            <a:r>
              <a:rPr sz="3800" b="1">
                <a:solidFill>
                  <a:srgbClr val="FFFFFF"/>
                </a:solidFill>
                <a:latin typeface="Aptos"/>
              </a:rPr>
              <a:t>"Fa o pagina pentru</a:t>
            </a:r>
          </a:p>
          <a:p>
            <a:pPr>
              <a:spcAft>
                <a:spcPts val="800"/>
              </a:spcAft>
            </a:pPr>
            <a:r>
              <a:rPr sz="3800" b="1">
                <a:solidFill>
                  <a:srgbClr val="FFFFFF"/>
                </a:solidFill>
                <a:latin typeface="Aptos"/>
              </a:rPr>
              <a:t>un eveniment la liceu."</a:t>
            </a:r>
          </a:p>
        </p:txBody>
      </p:sp>
      <p:sp>
        <p:nvSpPr>
          <p:cNvPr id="7" name="Rectangle 6"/>
          <p:cNvSpPr/>
          <p:nvPr/>
        </p:nvSpPr>
        <p:spPr>
          <a:xfrm>
            <a:off x="777240" y="3986784"/>
            <a:ext cx="10607040" cy="22860"/>
          </a:xfrm>
          <a:prstGeom prst="rect">
            <a:avLst/>
          </a:prstGeom>
          <a:solidFill>
            <a:srgbClr val="8190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517136"/>
            <a:ext cx="10378440" cy="667512"/>
          </a:xfrm>
          <a:prstGeom prst="rect">
            <a:avLst/>
          </a:prstGeom>
          <a:noFill/>
        </p:spPr>
        <p:txBody>
          <a:bodyPr wrap="square" lIns="22860" rIns="22860" tIns="22860" bIns="22860">
            <a:spAutoFit/>
          </a:bodyPr>
          <a:lstStyle/>
          <a:p>
            <a:pPr>
              <a:spcAft>
                <a:spcPts val="800"/>
              </a:spcAft>
            </a:pPr>
            <a:r>
              <a:rPr sz="2800" b="1">
                <a:solidFill>
                  <a:srgbClr val="D6EC79"/>
                </a:solidFill>
                <a:latin typeface="Aptos"/>
              </a:rPr>
              <a:t>Ce a presupus? Ce lipseste? Ce trebuie sa decidem noi?</a:t>
            </a:r>
          </a:p>
        </p:txBody>
      </p:sp>
      <p:sp>
        <p:nvSpPr>
          <p:cNvPr id="9" name="TextBox 8"/>
          <p:cNvSpPr txBox="1"/>
          <p:nvPr/>
        </p:nvSpPr>
        <p:spPr>
          <a:xfrm>
            <a:off x="777240" y="5568696"/>
            <a:ext cx="10378440" cy="402336"/>
          </a:xfrm>
          <a:prstGeom prst="rect">
            <a:avLst/>
          </a:prstGeom>
          <a:noFill/>
        </p:spPr>
        <p:txBody>
          <a:bodyPr wrap="square" lIns="22860" rIns="22860" tIns="22860" bIns="22860">
            <a:spAutoFit/>
          </a:bodyPr>
          <a:lstStyle/>
          <a:p>
            <a:pPr>
              <a:spcAft>
                <a:spcPts val="800"/>
              </a:spcAft>
            </a:pPr>
            <a:r>
              <a:rPr sz="2500" b="0">
                <a:solidFill>
                  <a:srgbClr val="FFFFFF"/>
                </a:solidFill>
                <a:latin typeface="Aptos"/>
              </a:rPr>
              <a:t>Idee  &gt;  Cerere  &gt;  Prima versiune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182636"/>
                </a:solidFill>
                <a:latin typeface="Aptos Display"/>
              </a:rPr>
              <a:t>Mai intai, ne corectam intrebarea.</a:t>
            </a:r>
          </a:p>
        </p:txBody>
      </p:sp>
      <p:sp>
        <p:nvSpPr>
          <p:cNvPr id="3" name="Rectangle 2"/>
          <p:cNvSpPr/>
          <p:nvPr/>
        </p:nvSpPr>
        <p:spPr>
          <a:xfrm>
            <a:off x="594360" y="6364224"/>
            <a:ext cx="10972800" cy="10972"/>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526176"/>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526176"/>
                </a:solidFill>
                <a:latin typeface="Aptos"/>
              </a:rPr>
              <a:t>8</a:t>
            </a:r>
          </a:p>
        </p:txBody>
      </p:sp>
      <p:sp>
        <p:nvSpPr>
          <p:cNvPr id="6" name="TextBox 5"/>
          <p:cNvSpPr txBox="1"/>
          <p:nvPr/>
        </p:nvSpPr>
        <p:spPr>
          <a:xfrm>
            <a:off x="731520" y="1856231"/>
            <a:ext cx="3794760" cy="1572768"/>
          </a:xfrm>
          <a:prstGeom prst="rect">
            <a:avLst/>
          </a:prstGeom>
          <a:noFill/>
        </p:spPr>
        <p:txBody>
          <a:bodyPr wrap="square" lIns="22860" rIns="22860" tIns="22860" bIns="22860">
            <a:spAutoFit/>
          </a:bodyPr>
          <a:lstStyle/>
          <a:p>
            <a:pPr>
              <a:spcAft>
                <a:spcPts val="800"/>
              </a:spcAft>
            </a:pPr>
            <a:r>
              <a:rPr sz="3000" b="1">
                <a:solidFill>
                  <a:srgbClr val="244BDD"/>
                </a:solidFill>
                <a:latin typeface="Aptos"/>
              </a:rPr>
              <a:t>Scopul.</a:t>
            </a:r>
          </a:p>
          <a:p>
            <a:pPr>
              <a:spcAft>
                <a:spcPts val="800"/>
              </a:spcAft>
            </a:pPr>
            <a:r>
              <a:rPr sz="3000" b="1">
                <a:solidFill>
                  <a:srgbClr val="244BDD"/>
                </a:solidFill>
                <a:latin typeface="Aptos"/>
              </a:rPr>
              <a:t>Contextul.</a:t>
            </a:r>
          </a:p>
          <a:p>
            <a:pPr>
              <a:spcAft>
                <a:spcPts val="800"/>
              </a:spcAft>
            </a:pPr>
            <a:r>
              <a:rPr sz="3000" b="1">
                <a:solidFill>
                  <a:srgbClr val="244BDD"/>
                </a:solidFill>
                <a:latin typeface="Aptos"/>
              </a:rPr>
              <a:t>Presupunerile.</a:t>
            </a:r>
          </a:p>
        </p:txBody>
      </p:sp>
      <p:sp>
        <p:nvSpPr>
          <p:cNvPr id="7" name="TextBox 6"/>
          <p:cNvSpPr txBox="1"/>
          <p:nvPr/>
        </p:nvSpPr>
        <p:spPr>
          <a:xfrm>
            <a:off x="731520" y="3877056"/>
            <a:ext cx="3794760" cy="1517904"/>
          </a:xfrm>
          <a:prstGeom prst="rect">
            <a:avLst/>
          </a:prstGeom>
          <a:noFill/>
        </p:spPr>
        <p:txBody>
          <a:bodyPr wrap="square" lIns="22860" rIns="22860" tIns="22860" bIns="22860">
            <a:spAutoFit/>
          </a:bodyPr>
          <a:lstStyle/>
          <a:p>
            <a:pPr>
              <a:spcAft>
                <a:spcPts val="800"/>
              </a:spcAft>
            </a:pPr>
            <a:r>
              <a:rPr sz="2600" b="0">
                <a:solidFill>
                  <a:srgbClr val="182636"/>
                </a:solidFill>
                <a:latin typeface="Aptos"/>
              </a:rPr>
              <a:t>O cerere mai clara</a:t>
            </a:r>
          </a:p>
          <a:p>
            <a:pPr>
              <a:spcAft>
                <a:spcPts val="800"/>
              </a:spcAft>
            </a:pPr>
            <a:r>
              <a:rPr sz="2600" b="0">
                <a:solidFill>
                  <a:srgbClr val="182636"/>
                </a:solidFill>
                <a:latin typeface="Aptos"/>
              </a:rPr>
              <a:t>ne ajuta sa evaluam</a:t>
            </a:r>
          </a:p>
          <a:p>
            <a:pPr>
              <a:spcAft>
                <a:spcPts val="800"/>
              </a:spcAft>
            </a:pPr>
            <a:r>
              <a:rPr sz="2600" b="0">
                <a:solidFill>
                  <a:srgbClr val="182636"/>
                </a:solidFill>
                <a:latin typeface="Aptos"/>
              </a:rPr>
              <a:t>ce primim.</a:t>
            </a:r>
          </a:p>
        </p:txBody>
      </p:sp>
      <p:sp>
        <p:nvSpPr>
          <p:cNvPr id="8" name="Rectangle 7"/>
          <p:cNvSpPr/>
          <p:nvPr/>
        </p:nvSpPr>
        <p:spPr>
          <a:xfrm>
            <a:off x="4782312" y="1856231"/>
            <a:ext cx="6720840" cy="4041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0" y="2130552"/>
            <a:ext cx="6172200" cy="3337560"/>
          </a:xfrm>
          <a:prstGeom prst="rect">
            <a:avLst/>
          </a:prstGeom>
          <a:noFill/>
        </p:spPr>
        <p:txBody>
          <a:bodyPr wrap="square" lIns="22860" rIns="22860" tIns="22860" bIns="22860">
            <a:spAutoFit/>
          </a:bodyPr>
          <a:lstStyle/>
          <a:p>
            <a:pPr>
              <a:spcAft>
                <a:spcPts val="800"/>
              </a:spcAft>
            </a:pPr>
            <a:r>
              <a:rPr sz="2500" b="0">
                <a:solidFill>
                  <a:srgbClr val="182636"/>
                </a:solidFill>
                <a:latin typeface="Aptos"/>
              </a:rPr>
              <a:t>Atelier de idei. Pentru liceeni.</a:t>
            </a:r>
          </a:p>
          <a:p>
            <a:pPr>
              <a:spcAft>
                <a:spcPts val="800"/>
              </a:spcAft>
            </a:pPr>
            <a:r>
              <a:rPr sz="2500" b="0">
                <a:solidFill>
                  <a:srgbClr val="182636"/>
                </a:solidFill>
                <a:latin typeface="Aptos"/>
              </a:rPr>
              <a:t>30 octombrie, 17:00-19:00.</a:t>
            </a:r>
          </a:p>
          <a:p>
            <a:pPr>
              <a:spcAft>
                <a:spcPts val="800"/>
              </a:spcAft>
            </a:pPr>
            <a:r>
              <a:rPr sz="2500" b="0">
                <a:solidFill>
                  <a:srgbClr val="182636"/>
                </a:solidFill>
                <a:latin typeface="Aptos"/>
              </a:rPr>
              <a:t>Sala de festivitati. Acces gratuit.</a:t>
            </a:r>
          </a:p>
          <a:p>
            <a:pPr>
              <a:spcAft>
                <a:spcPts val="800"/>
              </a:spcAft>
            </a:pPr>
            <a:r>
              <a:rPr sz="2500" b="0">
                <a:solidFill>
                  <a:srgbClr val="182636"/>
                </a:solidFill>
                <a:latin typeface="Aptos"/>
              </a:rPr>
              <a:t>Trei activitati, fara conturi.</a:t>
            </a:r>
          </a:p>
          <a:p>
            <a:pPr>
              <a:spcAft>
                <a:spcPts val="800"/>
              </a:spcAft>
            </a:pPr>
            <a:r>
              <a:rPr sz="2500" b="0">
                <a:solidFill>
                  <a:srgbClr val="182636"/>
                </a:solidFill>
                <a:latin typeface="Aptos"/>
              </a:rPr>
              <a:t>Sa functioneze si pe telefon.</a:t>
            </a:r>
          </a:p>
          <a:p>
            <a:pPr>
              <a:spcAft>
                <a:spcPts val="800"/>
              </a:spcAft>
            </a:pPr>
            <a:r>
              <a:rPr sz="2500" b="0">
                <a:solidFill>
                  <a:srgbClr val="182636"/>
                </a:solidFill>
                <a:latin typeface="Aptos"/>
              </a:rPr>
              <a:t>Toate datele sunt fictive.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82636"/>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FFFFFF"/>
                </a:solidFill>
                <a:latin typeface="Aptos Display"/>
              </a:rPr>
              <a:t>Arata bine. Dar ne putem baza pe ea?</a:t>
            </a:r>
          </a:p>
        </p:txBody>
      </p:sp>
      <p:sp>
        <p:nvSpPr>
          <p:cNvPr id="3" name="Rectangle 2"/>
          <p:cNvSpPr/>
          <p:nvPr/>
        </p:nvSpPr>
        <p:spPr>
          <a:xfrm>
            <a:off x="594360" y="6364224"/>
            <a:ext cx="10972800" cy="10972"/>
          </a:xfrm>
          <a:prstGeom prst="rect">
            <a:avLst/>
          </a:prstGeom>
          <a:solidFill>
            <a:srgbClr val="8190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CDD6E1"/>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FFFFFF"/>
                </a:solidFill>
                <a:latin typeface="Aptos"/>
              </a:rPr>
              <a:t>9</a:t>
            </a:r>
          </a:p>
        </p:txBody>
      </p:sp>
      <p:sp>
        <p:nvSpPr>
          <p:cNvPr id="6" name="TextBox 5"/>
          <p:cNvSpPr txBox="1"/>
          <p:nvPr/>
        </p:nvSpPr>
        <p:spPr>
          <a:xfrm>
            <a:off x="777240" y="2057400"/>
            <a:ext cx="3657600" cy="731520"/>
          </a:xfrm>
          <a:prstGeom prst="rect">
            <a:avLst/>
          </a:prstGeom>
          <a:noFill/>
        </p:spPr>
        <p:txBody>
          <a:bodyPr wrap="square" lIns="22860" rIns="22860" tIns="22860" bIns="22860">
            <a:spAutoFit/>
          </a:bodyPr>
          <a:lstStyle/>
          <a:p>
            <a:pPr>
              <a:spcAft>
                <a:spcPts val="800"/>
              </a:spcAft>
            </a:pPr>
            <a:r>
              <a:rPr sz="2600" b="1">
                <a:solidFill>
                  <a:srgbClr val="D6EC79"/>
                </a:solidFill>
                <a:latin typeface="Aptos"/>
              </a:rPr>
              <a:t>Respecta cererea?</a:t>
            </a:r>
          </a:p>
        </p:txBody>
      </p:sp>
      <p:sp>
        <p:nvSpPr>
          <p:cNvPr id="7" name="Rectangle 6"/>
          <p:cNvSpPr/>
          <p:nvPr/>
        </p:nvSpPr>
        <p:spPr>
          <a:xfrm>
            <a:off x="4709160" y="1901952"/>
            <a:ext cx="2487168" cy="1060704"/>
          </a:xfrm>
          <a:prstGeom prst="rect">
            <a:avLst/>
          </a:prstGeom>
          <a:solidFill>
            <a:srgbClr val="263B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2139696"/>
            <a:ext cx="2212848" cy="594360"/>
          </a:xfrm>
          <a:prstGeom prst="rect">
            <a:avLst/>
          </a:prstGeom>
          <a:noFill/>
        </p:spPr>
        <p:txBody>
          <a:bodyPr wrap="square" lIns="22860" rIns="22860" tIns="22860" bIns="22860">
            <a:spAutoFit/>
          </a:bodyPr>
          <a:lstStyle/>
          <a:p>
            <a:pPr>
              <a:spcAft>
                <a:spcPts val="800"/>
              </a:spcAft>
            </a:pPr>
            <a:r>
              <a:rPr sz="2400" b="1">
                <a:solidFill>
                  <a:srgbClr val="FFFFFF"/>
                </a:solidFill>
                <a:latin typeface="Aptos"/>
              </a:rPr>
              <a:t>Cererea</a:t>
            </a:r>
          </a:p>
        </p:txBody>
      </p:sp>
      <p:sp>
        <p:nvSpPr>
          <p:cNvPr id="9" name="Rectangle 8"/>
          <p:cNvSpPr/>
          <p:nvPr/>
        </p:nvSpPr>
        <p:spPr>
          <a:xfrm>
            <a:off x="7333488" y="2396236"/>
            <a:ext cx="576072" cy="35560"/>
          </a:xfrm>
          <a:prstGeom prst="rect">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rot="5400000">
            <a:off x="7827264" y="2331720"/>
            <a:ext cx="164592" cy="164592"/>
          </a:xfrm>
          <a:prstGeom prst="triangle">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9016" y="1947672"/>
            <a:ext cx="3200400" cy="941832"/>
          </a:xfrm>
          <a:prstGeom prst="rect">
            <a:avLst/>
          </a:prstGeom>
          <a:noFill/>
        </p:spPr>
        <p:txBody>
          <a:bodyPr wrap="square" lIns="22860" rIns="22860" tIns="22860" bIns="22860">
            <a:spAutoFit/>
          </a:bodyPr>
          <a:lstStyle/>
          <a:p>
            <a:pPr>
              <a:spcAft>
                <a:spcPts val="800"/>
              </a:spcAft>
            </a:pPr>
            <a:r>
              <a:rPr sz="2400" b="0">
                <a:solidFill>
                  <a:srgbClr val="FFFFFF"/>
                </a:solidFill>
                <a:latin typeface="Aptos"/>
              </a:rPr>
              <a:t>Compara data,</a:t>
            </a:r>
          </a:p>
          <a:p>
            <a:pPr>
              <a:spcAft>
                <a:spcPts val="800"/>
              </a:spcAft>
            </a:pPr>
            <a:r>
              <a:rPr sz="2400" b="0">
                <a:solidFill>
                  <a:srgbClr val="FFFFFF"/>
                </a:solidFill>
                <a:latin typeface="Aptos"/>
              </a:rPr>
              <a:t>ora si locul.</a:t>
            </a:r>
          </a:p>
        </p:txBody>
      </p:sp>
      <p:sp>
        <p:nvSpPr>
          <p:cNvPr id="12" name="TextBox 11"/>
          <p:cNvSpPr txBox="1"/>
          <p:nvPr/>
        </p:nvSpPr>
        <p:spPr>
          <a:xfrm>
            <a:off x="777240" y="3401568"/>
            <a:ext cx="3657600" cy="731520"/>
          </a:xfrm>
          <a:prstGeom prst="rect">
            <a:avLst/>
          </a:prstGeom>
          <a:noFill/>
        </p:spPr>
        <p:txBody>
          <a:bodyPr wrap="square" lIns="22860" rIns="22860" tIns="22860" bIns="22860">
            <a:spAutoFit/>
          </a:bodyPr>
          <a:lstStyle/>
          <a:p>
            <a:pPr>
              <a:spcAft>
                <a:spcPts val="800"/>
              </a:spcAft>
            </a:pPr>
            <a:r>
              <a:rPr sz="2600" b="1">
                <a:solidFill>
                  <a:srgbClr val="D6EC79"/>
                </a:solidFill>
                <a:latin typeface="Aptos"/>
              </a:rPr>
              <a:t>Functioneaza?</a:t>
            </a:r>
          </a:p>
        </p:txBody>
      </p:sp>
      <p:sp>
        <p:nvSpPr>
          <p:cNvPr id="13" name="Rectangle 12"/>
          <p:cNvSpPr/>
          <p:nvPr/>
        </p:nvSpPr>
        <p:spPr>
          <a:xfrm>
            <a:off x="4709160" y="3246120"/>
            <a:ext cx="2487168" cy="1060704"/>
          </a:xfrm>
          <a:prstGeom prst="rect">
            <a:avLst/>
          </a:prstGeom>
          <a:solidFill>
            <a:srgbClr val="263B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3483863"/>
            <a:ext cx="2212848" cy="594360"/>
          </a:xfrm>
          <a:prstGeom prst="rect">
            <a:avLst/>
          </a:prstGeom>
          <a:noFill/>
        </p:spPr>
        <p:txBody>
          <a:bodyPr wrap="square" lIns="22860" rIns="22860" tIns="22860" bIns="22860">
            <a:spAutoFit/>
          </a:bodyPr>
          <a:lstStyle/>
          <a:p>
            <a:pPr>
              <a:spcAft>
                <a:spcPts val="800"/>
              </a:spcAft>
            </a:pPr>
            <a:r>
              <a:rPr sz="2400" b="1">
                <a:solidFill>
                  <a:srgbClr val="FFFFFF"/>
                </a:solidFill>
                <a:latin typeface="Aptos"/>
              </a:rPr>
              <a:t>Pagina</a:t>
            </a:r>
          </a:p>
        </p:txBody>
      </p:sp>
      <p:sp>
        <p:nvSpPr>
          <p:cNvPr id="15" name="Rectangle 14"/>
          <p:cNvSpPr/>
          <p:nvPr/>
        </p:nvSpPr>
        <p:spPr>
          <a:xfrm>
            <a:off x="7333488" y="3740403"/>
            <a:ext cx="576072" cy="35560"/>
          </a:xfrm>
          <a:prstGeom prst="rect">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5400000">
            <a:off x="7827264" y="3675887"/>
            <a:ext cx="164592" cy="164592"/>
          </a:xfrm>
          <a:prstGeom prst="triangle">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9016" y="3291839"/>
            <a:ext cx="3200400" cy="941832"/>
          </a:xfrm>
          <a:prstGeom prst="rect">
            <a:avLst/>
          </a:prstGeom>
          <a:noFill/>
        </p:spPr>
        <p:txBody>
          <a:bodyPr wrap="square" lIns="22860" rIns="22860" tIns="22860" bIns="22860">
            <a:spAutoFit/>
          </a:bodyPr>
          <a:lstStyle/>
          <a:p>
            <a:pPr>
              <a:spcAft>
                <a:spcPts val="800"/>
              </a:spcAft>
            </a:pPr>
            <a:r>
              <a:rPr sz="2400" b="0">
                <a:solidFill>
                  <a:srgbClr val="FFFFFF"/>
                </a:solidFill>
                <a:latin typeface="Aptos"/>
              </a:rPr>
              <a:t>Testeaza butonul</a:t>
            </a:r>
          </a:p>
          <a:p>
            <a:pPr>
              <a:spcAft>
                <a:spcPts val="800"/>
              </a:spcAft>
            </a:pPr>
            <a:r>
              <a:rPr sz="2400" b="0">
                <a:solidFill>
                  <a:srgbClr val="FFFFFF"/>
                </a:solidFill>
                <a:latin typeface="Aptos"/>
              </a:rPr>
              <a:t>si afisarea pe telefon.</a:t>
            </a:r>
          </a:p>
        </p:txBody>
      </p:sp>
      <p:sp>
        <p:nvSpPr>
          <p:cNvPr id="18" name="TextBox 17"/>
          <p:cNvSpPr txBox="1"/>
          <p:nvPr/>
        </p:nvSpPr>
        <p:spPr>
          <a:xfrm>
            <a:off x="777240" y="4745736"/>
            <a:ext cx="3657600" cy="731520"/>
          </a:xfrm>
          <a:prstGeom prst="rect">
            <a:avLst/>
          </a:prstGeom>
          <a:noFill/>
        </p:spPr>
        <p:txBody>
          <a:bodyPr wrap="square" lIns="22860" rIns="22860" tIns="22860" bIns="22860">
            <a:spAutoFit/>
          </a:bodyPr>
          <a:lstStyle/>
          <a:p>
            <a:pPr>
              <a:spcAft>
                <a:spcPts val="800"/>
              </a:spcAft>
            </a:pPr>
            <a:r>
              <a:rPr sz="2600" b="1">
                <a:solidFill>
                  <a:srgbClr val="D6EC79"/>
                </a:solidFill>
                <a:latin typeface="Aptos"/>
              </a:rPr>
              <a:t>Este adevarat?</a:t>
            </a:r>
          </a:p>
        </p:txBody>
      </p:sp>
      <p:sp>
        <p:nvSpPr>
          <p:cNvPr id="19" name="Rectangle 18"/>
          <p:cNvSpPr/>
          <p:nvPr/>
        </p:nvSpPr>
        <p:spPr>
          <a:xfrm>
            <a:off x="4709160" y="4590288"/>
            <a:ext cx="2487168" cy="1060704"/>
          </a:xfrm>
          <a:prstGeom prst="rect">
            <a:avLst/>
          </a:prstGeom>
          <a:solidFill>
            <a:srgbClr val="263B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0" y="4828031"/>
            <a:ext cx="2212848" cy="594360"/>
          </a:xfrm>
          <a:prstGeom prst="rect">
            <a:avLst/>
          </a:prstGeom>
          <a:noFill/>
        </p:spPr>
        <p:txBody>
          <a:bodyPr wrap="square" lIns="22860" rIns="22860" tIns="22860" bIns="22860">
            <a:spAutoFit/>
          </a:bodyPr>
          <a:lstStyle/>
          <a:p>
            <a:pPr>
              <a:spcAft>
                <a:spcPts val="800"/>
              </a:spcAft>
            </a:pPr>
            <a:r>
              <a:rPr sz="2400" b="1">
                <a:solidFill>
                  <a:srgbClr val="FFFFFF"/>
                </a:solidFill>
                <a:latin typeface="Aptos"/>
              </a:rPr>
              <a:t>Eveniment real</a:t>
            </a:r>
          </a:p>
        </p:txBody>
      </p:sp>
      <p:sp>
        <p:nvSpPr>
          <p:cNvPr id="21" name="Rectangle 20"/>
          <p:cNvSpPr/>
          <p:nvPr/>
        </p:nvSpPr>
        <p:spPr>
          <a:xfrm>
            <a:off x="7333488" y="5084572"/>
            <a:ext cx="576072" cy="35560"/>
          </a:xfrm>
          <a:prstGeom prst="rect">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5400000">
            <a:off x="7827264" y="5020056"/>
            <a:ext cx="164592" cy="164592"/>
          </a:xfrm>
          <a:prstGeom prst="triangle">
            <a:avLst/>
          </a:prstGeom>
          <a:solidFill>
            <a:srgbClr val="D6E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9016" y="4636007"/>
            <a:ext cx="3200400" cy="941832"/>
          </a:xfrm>
          <a:prstGeom prst="rect">
            <a:avLst/>
          </a:prstGeom>
          <a:noFill/>
        </p:spPr>
        <p:txBody>
          <a:bodyPr wrap="square" lIns="22860" rIns="22860" tIns="22860" bIns="22860">
            <a:spAutoFit/>
          </a:bodyPr>
          <a:lstStyle/>
          <a:p>
            <a:pPr>
              <a:spcAft>
                <a:spcPts val="800"/>
              </a:spcAft>
            </a:pPr>
            <a:r>
              <a:rPr sz="2400" b="0">
                <a:solidFill>
                  <a:srgbClr val="FFFFFF"/>
                </a:solidFill>
                <a:latin typeface="Aptos"/>
              </a:rPr>
              <a:t>Confirma cu</a:t>
            </a:r>
          </a:p>
          <a:p>
            <a:pPr>
              <a:spcAft>
                <a:spcPts val="800"/>
              </a:spcAft>
            </a:pPr>
            <a:r>
              <a:rPr sz="2400" b="0">
                <a:solidFill>
                  <a:srgbClr val="FFFFFF"/>
                </a:solidFill>
                <a:latin typeface="Aptos"/>
              </a:rPr>
              <a:t>organizatorul.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182636"/>
                </a:solidFill>
                <a:latin typeface="Aptos Display"/>
              </a:rPr>
              <a:t>Cinci obiceiuri care raman la tine.</a:t>
            </a:r>
          </a:p>
        </p:txBody>
      </p:sp>
      <p:sp>
        <p:nvSpPr>
          <p:cNvPr id="3" name="Rectangle 2"/>
          <p:cNvSpPr/>
          <p:nvPr/>
        </p:nvSpPr>
        <p:spPr>
          <a:xfrm>
            <a:off x="594360" y="6364224"/>
            <a:ext cx="10972800" cy="10972"/>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526176"/>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526176"/>
                </a:solidFill>
                <a:latin typeface="Aptos"/>
              </a:rPr>
              <a:t>10</a:t>
            </a:r>
          </a:p>
        </p:txBody>
      </p:sp>
      <p:sp>
        <p:nvSpPr>
          <p:cNvPr id="6" name="TextBox 5"/>
          <p:cNvSpPr txBox="1"/>
          <p:nvPr/>
        </p:nvSpPr>
        <p:spPr>
          <a:xfrm>
            <a:off x="731520" y="1810512"/>
            <a:ext cx="5029200" cy="521207"/>
          </a:xfrm>
          <a:prstGeom prst="rect">
            <a:avLst/>
          </a:prstGeom>
          <a:noFill/>
        </p:spPr>
        <p:txBody>
          <a:bodyPr wrap="square" lIns="22860" rIns="22860" tIns="22860" bIns="22860">
            <a:spAutoFit/>
          </a:bodyPr>
          <a:lstStyle/>
          <a:p>
            <a:pPr>
              <a:spcAft>
                <a:spcPts val="800"/>
              </a:spcAft>
            </a:pPr>
            <a:r>
              <a:rPr sz="2500" b="1">
                <a:solidFill>
                  <a:srgbClr val="244BDD"/>
                </a:solidFill>
                <a:latin typeface="Aptos"/>
              </a:rPr>
              <a:t>Protejeaza-ti datele.</a:t>
            </a:r>
          </a:p>
        </p:txBody>
      </p:sp>
      <p:sp>
        <p:nvSpPr>
          <p:cNvPr id="7" name="TextBox 6"/>
          <p:cNvSpPr txBox="1"/>
          <p:nvPr/>
        </p:nvSpPr>
        <p:spPr>
          <a:xfrm>
            <a:off x="5779008" y="1810512"/>
            <a:ext cx="5669280" cy="612648"/>
          </a:xfrm>
          <a:prstGeom prst="rect">
            <a:avLst/>
          </a:prstGeom>
          <a:noFill/>
        </p:spPr>
        <p:txBody>
          <a:bodyPr wrap="square" lIns="22860" rIns="22860" tIns="22860" bIns="22860">
            <a:spAutoFit/>
          </a:bodyPr>
          <a:lstStyle/>
          <a:p>
            <a:pPr>
              <a:spcAft>
                <a:spcPts val="800"/>
              </a:spcAft>
            </a:pPr>
            <a:r>
              <a:rPr sz="2200" b="0">
                <a:solidFill>
                  <a:srgbClr val="182636"/>
                </a:solidFill>
                <a:latin typeface="Aptos"/>
              </a:rPr>
              <a:t>Fara parole, acte sau date despre colegi.</a:t>
            </a:r>
          </a:p>
        </p:txBody>
      </p:sp>
      <p:sp>
        <p:nvSpPr>
          <p:cNvPr id="8" name="TextBox 7"/>
          <p:cNvSpPr txBox="1"/>
          <p:nvPr/>
        </p:nvSpPr>
        <p:spPr>
          <a:xfrm>
            <a:off x="731520" y="2606040"/>
            <a:ext cx="5029200" cy="521207"/>
          </a:xfrm>
          <a:prstGeom prst="rect">
            <a:avLst/>
          </a:prstGeom>
          <a:noFill/>
        </p:spPr>
        <p:txBody>
          <a:bodyPr wrap="square" lIns="22860" rIns="22860" tIns="22860" bIns="22860">
            <a:spAutoFit/>
          </a:bodyPr>
          <a:lstStyle/>
          <a:p>
            <a:pPr>
              <a:spcAft>
                <a:spcPts val="800"/>
              </a:spcAft>
            </a:pPr>
            <a:r>
              <a:rPr sz="2500" b="1">
                <a:solidFill>
                  <a:srgbClr val="244BDD"/>
                </a:solidFill>
                <a:latin typeface="Aptos"/>
              </a:rPr>
              <a:t>Verifica ce conteaza.</a:t>
            </a:r>
          </a:p>
        </p:txBody>
      </p:sp>
      <p:sp>
        <p:nvSpPr>
          <p:cNvPr id="9" name="TextBox 8"/>
          <p:cNvSpPr txBox="1"/>
          <p:nvPr/>
        </p:nvSpPr>
        <p:spPr>
          <a:xfrm>
            <a:off x="5779008" y="2606040"/>
            <a:ext cx="5669280" cy="612648"/>
          </a:xfrm>
          <a:prstGeom prst="rect">
            <a:avLst/>
          </a:prstGeom>
          <a:noFill/>
        </p:spPr>
        <p:txBody>
          <a:bodyPr wrap="square" lIns="22860" rIns="22860" tIns="22860" bIns="22860">
            <a:spAutoFit/>
          </a:bodyPr>
          <a:lstStyle/>
          <a:p>
            <a:pPr>
              <a:spcAft>
                <a:spcPts val="800"/>
              </a:spcAft>
            </a:pPr>
            <a:r>
              <a:rPr sz="2200" b="0">
                <a:solidFill>
                  <a:srgbClr val="182636"/>
                </a:solidFill>
                <a:latin typeface="Aptos"/>
              </a:rPr>
              <a:t>Alege sursa, calculul sau testul potrivit.</a:t>
            </a:r>
          </a:p>
        </p:txBody>
      </p:sp>
      <p:sp>
        <p:nvSpPr>
          <p:cNvPr id="10" name="TextBox 9"/>
          <p:cNvSpPr txBox="1"/>
          <p:nvPr/>
        </p:nvSpPr>
        <p:spPr>
          <a:xfrm>
            <a:off x="731520" y="3401568"/>
            <a:ext cx="5029200" cy="521207"/>
          </a:xfrm>
          <a:prstGeom prst="rect">
            <a:avLst/>
          </a:prstGeom>
          <a:noFill/>
        </p:spPr>
        <p:txBody>
          <a:bodyPr wrap="square" lIns="22860" rIns="22860" tIns="22860" bIns="22860">
            <a:spAutoFit/>
          </a:bodyPr>
          <a:lstStyle/>
          <a:p>
            <a:pPr>
              <a:spcAft>
                <a:spcPts val="800"/>
              </a:spcAft>
            </a:pPr>
            <a:r>
              <a:rPr sz="2500" b="1">
                <a:solidFill>
                  <a:srgbClr val="244BDD"/>
                </a:solidFill>
                <a:latin typeface="Aptos"/>
              </a:rPr>
              <a:t>Siguranta nu este adevar.</a:t>
            </a:r>
          </a:p>
        </p:txBody>
      </p:sp>
      <p:sp>
        <p:nvSpPr>
          <p:cNvPr id="11" name="TextBox 10"/>
          <p:cNvSpPr txBox="1"/>
          <p:nvPr/>
        </p:nvSpPr>
        <p:spPr>
          <a:xfrm>
            <a:off x="5779008" y="3401568"/>
            <a:ext cx="5669280" cy="612648"/>
          </a:xfrm>
          <a:prstGeom prst="rect">
            <a:avLst/>
          </a:prstGeom>
          <a:noFill/>
        </p:spPr>
        <p:txBody>
          <a:bodyPr wrap="square" lIns="22860" rIns="22860" tIns="22860" bIns="22860">
            <a:spAutoFit/>
          </a:bodyPr>
          <a:lstStyle/>
          <a:p>
            <a:pPr>
              <a:spcAft>
                <a:spcPts val="800"/>
              </a:spcAft>
            </a:pPr>
            <a:r>
              <a:rPr sz="2200" b="0">
                <a:solidFill>
                  <a:srgbClr val="182636"/>
                </a:solidFill>
                <a:latin typeface="Aptos"/>
              </a:rPr>
              <a:t>Un ton convingator poate ascunde o eroare.</a:t>
            </a:r>
          </a:p>
        </p:txBody>
      </p:sp>
      <p:sp>
        <p:nvSpPr>
          <p:cNvPr id="12" name="TextBox 11"/>
          <p:cNvSpPr txBox="1"/>
          <p:nvPr/>
        </p:nvSpPr>
        <p:spPr>
          <a:xfrm>
            <a:off x="731520" y="4197096"/>
            <a:ext cx="5029200" cy="521207"/>
          </a:xfrm>
          <a:prstGeom prst="rect">
            <a:avLst/>
          </a:prstGeom>
          <a:noFill/>
        </p:spPr>
        <p:txBody>
          <a:bodyPr wrap="square" lIns="22860" rIns="22860" tIns="22860" bIns="22860">
            <a:spAutoFit/>
          </a:bodyPr>
          <a:lstStyle/>
          <a:p>
            <a:pPr>
              <a:spcAft>
                <a:spcPts val="800"/>
              </a:spcAft>
            </a:pPr>
            <a:r>
              <a:rPr sz="2500" b="1">
                <a:solidFill>
                  <a:srgbClr val="244BDD"/>
                </a:solidFill>
                <a:latin typeface="Aptos"/>
              </a:rPr>
              <a:t>Spune unde te-a ajutat AI.</a:t>
            </a:r>
          </a:p>
        </p:txBody>
      </p:sp>
      <p:sp>
        <p:nvSpPr>
          <p:cNvPr id="13" name="TextBox 12"/>
          <p:cNvSpPr txBox="1"/>
          <p:nvPr/>
        </p:nvSpPr>
        <p:spPr>
          <a:xfrm>
            <a:off x="5779008" y="4197096"/>
            <a:ext cx="5669280" cy="612648"/>
          </a:xfrm>
          <a:prstGeom prst="rect">
            <a:avLst/>
          </a:prstGeom>
          <a:noFill/>
        </p:spPr>
        <p:txBody>
          <a:bodyPr wrap="square" lIns="22860" rIns="22860" tIns="22860" bIns="22860">
            <a:spAutoFit/>
          </a:bodyPr>
          <a:lstStyle/>
          <a:p>
            <a:pPr>
              <a:spcAft>
                <a:spcPts val="800"/>
              </a:spcAft>
            </a:pPr>
            <a:r>
              <a:rPr sz="2200" b="0">
                <a:solidFill>
                  <a:srgbClr val="182636"/>
                </a:solidFill>
                <a:latin typeface="Aptos"/>
              </a:rPr>
              <a:t>Respecta regulile scolii si contributia altora.</a:t>
            </a:r>
          </a:p>
        </p:txBody>
      </p:sp>
      <p:sp>
        <p:nvSpPr>
          <p:cNvPr id="14" name="TextBox 13"/>
          <p:cNvSpPr txBox="1"/>
          <p:nvPr/>
        </p:nvSpPr>
        <p:spPr>
          <a:xfrm>
            <a:off x="731520" y="4992624"/>
            <a:ext cx="5029200" cy="521207"/>
          </a:xfrm>
          <a:prstGeom prst="rect">
            <a:avLst/>
          </a:prstGeom>
          <a:noFill/>
        </p:spPr>
        <p:txBody>
          <a:bodyPr wrap="square" lIns="22860" rIns="22860" tIns="22860" bIns="22860">
            <a:spAutoFit/>
          </a:bodyPr>
          <a:lstStyle/>
          <a:p>
            <a:pPr>
              <a:spcAft>
                <a:spcPts val="800"/>
              </a:spcAft>
            </a:pPr>
            <a:r>
              <a:rPr sz="2500" b="1">
                <a:solidFill>
                  <a:srgbClr val="244BDD"/>
                </a:solidFill>
                <a:latin typeface="Aptos"/>
              </a:rPr>
              <a:t>Pastreaza decizia la tine.</a:t>
            </a:r>
          </a:p>
        </p:txBody>
      </p:sp>
      <p:sp>
        <p:nvSpPr>
          <p:cNvPr id="15" name="TextBox 14"/>
          <p:cNvSpPr txBox="1"/>
          <p:nvPr/>
        </p:nvSpPr>
        <p:spPr>
          <a:xfrm>
            <a:off x="5779008" y="4992624"/>
            <a:ext cx="5669280" cy="612648"/>
          </a:xfrm>
          <a:prstGeom prst="rect">
            <a:avLst/>
          </a:prstGeom>
          <a:noFill/>
        </p:spPr>
        <p:txBody>
          <a:bodyPr wrap="square" lIns="22860" rIns="22860" tIns="22860" bIns="22860">
            <a:spAutoFit/>
          </a:bodyPr>
          <a:lstStyle/>
          <a:p>
            <a:pPr>
              <a:spcAft>
                <a:spcPts val="800"/>
              </a:spcAft>
            </a:pPr>
            <a:r>
              <a:rPr sz="2200" b="0">
                <a:solidFill>
                  <a:srgbClr val="182636"/>
                </a:solidFill>
                <a:latin typeface="Aptos"/>
              </a:rPr>
              <a:t>Intelege rezultatul inainte sa il folosesti.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182636"/>
                </a:solidFill>
                <a:latin typeface="Aptos Display"/>
              </a:rPr>
              <a:t>Tech are mai multe usi de intrare.</a:t>
            </a:r>
          </a:p>
        </p:txBody>
      </p:sp>
      <p:sp>
        <p:nvSpPr>
          <p:cNvPr id="3" name="Rectangle 2"/>
          <p:cNvSpPr/>
          <p:nvPr/>
        </p:nvSpPr>
        <p:spPr>
          <a:xfrm>
            <a:off x="594360" y="6364224"/>
            <a:ext cx="10972800" cy="10972"/>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526176"/>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526176"/>
                </a:solidFill>
                <a:latin typeface="Aptos"/>
              </a:rPr>
              <a:t>11</a:t>
            </a:r>
          </a:p>
        </p:txBody>
      </p:sp>
      <p:sp>
        <p:nvSpPr>
          <p:cNvPr id="6" name="TextBox 5"/>
          <p:cNvSpPr txBox="1"/>
          <p:nvPr/>
        </p:nvSpPr>
        <p:spPr>
          <a:xfrm>
            <a:off x="731520" y="1856231"/>
            <a:ext cx="5257800" cy="365760"/>
          </a:xfrm>
          <a:prstGeom prst="rect">
            <a:avLst/>
          </a:prstGeom>
          <a:noFill/>
        </p:spPr>
        <p:txBody>
          <a:bodyPr wrap="square" lIns="22860" rIns="22860" tIns="22860" bIns="22860">
            <a:spAutoFit/>
          </a:bodyPr>
          <a:lstStyle/>
          <a:p>
            <a:pPr>
              <a:spcAft>
                <a:spcPts val="800"/>
              </a:spcAft>
            </a:pPr>
            <a:r>
              <a:rPr sz="1800" b="0">
                <a:solidFill>
                  <a:srgbClr val="526176"/>
                </a:solidFill>
                <a:latin typeface="Aptos"/>
              </a:rPr>
              <a:t>Iti place sa construiesti?</a:t>
            </a:r>
          </a:p>
        </p:txBody>
      </p:sp>
      <p:sp>
        <p:nvSpPr>
          <p:cNvPr id="7" name="TextBox 6"/>
          <p:cNvSpPr txBox="1"/>
          <p:nvPr/>
        </p:nvSpPr>
        <p:spPr>
          <a:xfrm>
            <a:off x="731520" y="2286000"/>
            <a:ext cx="5257800" cy="512064"/>
          </a:xfrm>
          <a:prstGeom prst="rect">
            <a:avLst/>
          </a:prstGeom>
          <a:noFill/>
        </p:spPr>
        <p:txBody>
          <a:bodyPr wrap="square" lIns="22860" rIns="22860" tIns="22860" bIns="22860">
            <a:spAutoFit/>
          </a:bodyPr>
          <a:lstStyle/>
          <a:p>
            <a:pPr>
              <a:spcAft>
                <a:spcPts val="800"/>
              </a:spcAft>
            </a:pPr>
            <a:r>
              <a:rPr sz="2600" b="1">
                <a:solidFill>
                  <a:srgbClr val="244BDD"/>
                </a:solidFill>
                <a:latin typeface="Aptos"/>
              </a:rPr>
              <a:t>Software Engineering</a:t>
            </a:r>
          </a:p>
        </p:txBody>
      </p:sp>
      <p:sp>
        <p:nvSpPr>
          <p:cNvPr id="8" name="TextBox 7"/>
          <p:cNvSpPr txBox="1"/>
          <p:nvPr/>
        </p:nvSpPr>
        <p:spPr>
          <a:xfrm>
            <a:off x="731520" y="2807208"/>
            <a:ext cx="5257800" cy="420624"/>
          </a:xfrm>
          <a:prstGeom prst="rect">
            <a:avLst/>
          </a:prstGeom>
          <a:noFill/>
        </p:spPr>
        <p:txBody>
          <a:bodyPr wrap="square" lIns="22860" rIns="22860" tIns="22860" bIns="22860">
            <a:spAutoFit/>
          </a:bodyPr>
          <a:lstStyle/>
          <a:p>
            <a:pPr>
              <a:spcAft>
                <a:spcPts val="800"/>
              </a:spcAft>
            </a:pPr>
            <a:r>
              <a:rPr sz="2000" b="0">
                <a:solidFill>
                  <a:srgbClr val="182636"/>
                </a:solidFill>
                <a:latin typeface="Aptos"/>
              </a:rPr>
              <a:t>Aplicatii si sisteme care functioneaza.</a:t>
            </a:r>
          </a:p>
        </p:txBody>
      </p:sp>
      <p:sp>
        <p:nvSpPr>
          <p:cNvPr id="9" name="TextBox 8"/>
          <p:cNvSpPr txBox="1"/>
          <p:nvPr/>
        </p:nvSpPr>
        <p:spPr>
          <a:xfrm>
            <a:off x="6355080" y="1856231"/>
            <a:ext cx="5257800" cy="365760"/>
          </a:xfrm>
          <a:prstGeom prst="rect">
            <a:avLst/>
          </a:prstGeom>
          <a:noFill/>
        </p:spPr>
        <p:txBody>
          <a:bodyPr wrap="square" lIns="22860" rIns="22860" tIns="22860" bIns="22860">
            <a:spAutoFit/>
          </a:bodyPr>
          <a:lstStyle/>
          <a:p>
            <a:pPr>
              <a:spcAft>
                <a:spcPts val="800"/>
              </a:spcAft>
            </a:pPr>
            <a:r>
              <a:rPr sz="1800" b="0">
                <a:solidFill>
                  <a:srgbClr val="526176"/>
                </a:solidFill>
                <a:latin typeface="Aptos"/>
              </a:rPr>
              <a:t>Iti place sa investighezi?</a:t>
            </a:r>
          </a:p>
        </p:txBody>
      </p:sp>
      <p:sp>
        <p:nvSpPr>
          <p:cNvPr id="10" name="TextBox 9"/>
          <p:cNvSpPr txBox="1"/>
          <p:nvPr/>
        </p:nvSpPr>
        <p:spPr>
          <a:xfrm>
            <a:off x="6355080" y="2286000"/>
            <a:ext cx="5257800" cy="512064"/>
          </a:xfrm>
          <a:prstGeom prst="rect">
            <a:avLst/>
          </a:prstGeom>
          <a:noFill/>
        </p:spPr>
        <p:txBody>
          <a:bodyPr wrap="square" lIns="22860" rIns="22860" tIns="22860" bIns="22860">
            <a:spAutoFit/>
          </a:bodyPr>
          <a:lstStyle/>
          <a:p>
            <a:pPr>
              <a:spcAft>
                <a:spcPts val="800"/>
              </a:spcAft>
            </a:pPr>
            <a:r>
              <a:rPr sz="2600" b="1">
                <a:solidFill>
                  <a:srgbClr val="244BDD"/>
                </a:solidFill>
                <a:latin typeface="Aptos"/>
              </a:rPr>
              <a:t>Cybersecurity</a:t>
            </a:r>
          </a:p>
        </p:txBody>
      </p:sp>
      <p:sp>
        <p:nvSpPr>
          <p:cNvPr id="11" name="TextBox 10"/>
          <p:cNvSpPr txBox="1"/>
          <p:nvPr/>
        </p:nvSpPr>
        <p:spPr>
          <a:xfrm>
            <a:off x="6355080" y="2807208"/>
            <a:ext cx="5257800" cy="420624"/>
          </a:xfrm>
          <a:prstGeom prst="rect">
            <a:avLst/>
          </a:prstGeom>
          <a:noFill/>
        </p:spPr>
        <p:txBody>
          <a:bodyPr wrap="square" lIns="22860" rIns="22860" tIns="22860" bIns="22860">
            <a:spAutoFit/>
          </a:bodyPr>
          <a:lstStyle/>
          <a:p>
            <a:pPr>
              <a:spcAft>
                <a:spcPts val="800"/>
              </a:spcAft>
            </a:pPr>
            <a:r>
              <a:rPr sz="2000" b="0">
                <a:solidFill>
                  <a:srgbClr val="182636"/>
                </a:solidFill>
                <a:latin typeface="Aptos"/>
              </a:rPr>
              <a:t>Cum protejam oameni, date si sisteme.</a:t>
            </a:r>
          </a:p>
        </p:txBody>
      </p:sp>
      <p:sp>
        <p:nvSpPr>
          <p:cNvPr id="12" name="TextBox 11"/>
          <p:cNvSpPr txBox="1"/>
          <p:nvPr/>
        </p:nvSpPr>
        <p:spPr>
          <a:xfrm>
            <a:off x="731520" y="3246120"/>
            <a:ext cx="5257800" cy="365760"/>
          </a:xfrm>
          <a:prstGeom prst="rect">
            <a:avLst/>
          </a:prstGeom>
          <a:noFill/>
        </p:spPr>
        <p:txBody>
          <a:bodyPr wrap="square" lIns="22860" rIns="22860" tIns="22860" bIns="22860">
            <a:spAutoFit/>
          </a:bodyPr>
          <a:lstStyle/>
          <a:p>
            <a:pPr>
              <a:spcAft>
                <a:spcPts val="800"/>
              </a:spcAft>
            </a:pPr>
            <a:r>
              <a:rPr sz="1800" b="0">
                <a:solidFill>
                  <a:srgbClr val="526176"/>
                </a:solidFill>
                <a:latin typeface="Aptos"/>
              </a:rPr>
              <a:t>Iti plac tiparele si intrebarile?</a:t>
            </a:r>
          </a:p>
        </p:txBody>
      </p:sp>
      <p:sp>
        <p:nvSpPr>
          <p:cNvPr id="13" name="TextBox 12"/>
          <p:cNvSpPr txBox="1"/>
          <p:nvPr/>
        </p:nvSpPr>
        <p:spPr>
          <a:xfrm>
            <a:off x="731520" y="3675887"/>
            <a:ext cx="5257800" cy="512064"/>
          </a:xfrm>
          <a:prstGeom prst="rect">
            <a:avLst/>
          </a:prstGeom>
          <a:noFill/>
        </p:spPr>
        <p:txBody>
          <a:bodyPr wrap="square" lIns="22860" rIns="22860" tIns="22860" bIns="22860">
            <a:spAutoFit/>
          </a:bodyPr>
          <a:lstStyle/>
          <a:p>
            <a:pPr>
              <a:spcAft>
                <a:spcPts val="800"/>
              </a:spcAft>
            </a:pPr>
            <a:r>
              <a:rPr sz="2600" b="1">
                <a:solidFill>
                  <a:srgbClr val="244BDD"/>
                </a:solidFill>
                <a:latin typeface="Aptos"/>
              </a:rPr>
              <a:t>Data / AI</a:t>
            </a:r>
          </a:p>
        </p:txBody>
      </p:sp>
      <p:sp>
        <p:nvSpPr>
          <p:cNvPr id="14" name="TextBox 13"/>
          <p:cNvSpPr txBox="1"/>
          <p:nvPr/>
        </p:nvSpPr>
        <p:spPr>
          <a:xfrm>
            <a:off x="731520" y="4197096"/>
            <a:ext cx="5257800" cy="420624"/>
          </a:xfrm>
          <a:prstGeom prst="rect">
            <a:avLst/>
          </a:prstGeom>
          <a:noFill/>
        </p:spPr>
        <p:txBody>
          <a:bodyPr wrap="square" lIns="22860" rIns="22860" tIns="22860" bIns="22860">
            <a:spAutoFit/>
          </a:bodyPr>
          <a:lstStyle/>
          <a:p>
            <a:pPr>
              <a:spcAft>
                <a:spcPts val="800"/>
              </a:spcAft>
            </a:pPr>
            <a:r>
              <a:rPr sz="2000" b="0">
                <a:solidFill>
                  <a:srgbClr val="182636"/>
                </a:solidFill>
                <a:latin typeface="Aptos"/>
              </a:rPr>
              <a:t>Ce putem afla din date si cum verificam.</a:t>
            </a:r>
          </a:p>
        </p:txBody>
      </p:sp>
      <p:sp>
        <p:nvSpPr>
          <p:cNvPr id="15" name="TextBox 14"/>
          <p:cNvSpPr txBox="1"/>
          <p:nvPr/>
        </p:nvSpPr>
        <p:spPr>
          <a:xfrm>
            <a:off x="6355080" y="3246120"/>
            <a:ext cx="5257800" cy="365760"/>
          </a:xfrm>
          <a:prstGeom prst="rect">
            <a:avLst/>
          </a:prstGeom>
          <a:noFill/>
        </p:spPr>
        <p:txBody>
          <a:bodyPr wrap="square" lIns="22860" rIns="22860" tIns="22860" bIns="22860">
            <a:spAutoFit/>
          </a:bodyPr>
          <a:lstStyle/>
          <a:p>
            <a:pPr>
              <a:spcAft>
                <a:spcPts val="800"/>
              </a:spcAft>
            </a:pPr>
            <a:r>
              <a:rPr sz="1800" b="0">
                <a:solidFill>
                  <a:srgbClr val="526176"/>
                </a:solidFill>
                <a:latin typeface="Aptos"/>
              </a:rPr>
              <a:t>Iti place sa desenezi si sa observi?</a:t>
            </a:r>
          </a:p>
        </p:txBody>
      </p:sp>
      <p:sp>
        <p:nvSpPr>
          <p:cNvPr id="16" name="TextBox 15"/>
          <p:cNvSpPr txBox="1"/>
          <p:nvPr/>
        </p:nvSpPr>
        <p:spPr>
          <a:xfrm>
            <a:off x="6355080" y="3675887"/>
            <a:ext cx="5257800" cy="512064"/>
          </a:xfrm>
          <a:prstGeom prst="rect">
            <a:avLst/>
          </a:prstGeom>
          <a:noFill/>
        </p:spPr>
        <p:txBody>
          <a:bodyPr wrap="square" lIns="22860" rIns="22860" tIns="22860" bIns="22860">
            <a:spAutoFit/>
          </a:bodyPr>
          <a:lstStyle/>
          <a:p>
            <a:pPr>
              <a:spcAft>
                <a:spcPts val="800"/>
              </a:spcAft>
            </a:pPr>
            <a:r>
              <a:rPr sz="2600" b="1">
                <a:solidFill>
                  <a:srgbClr val="244BDD"/>
                </a:solidFill>
                <a:latin typeface="Aptos"/>
              </a:rPr>
              <a:t>UX / Design</a:t>
            </a:r>
          </a:p>
        </p:txBody>
      </p:sp>
      <p:sp>
        <p:nvSpPr>
          <p:cNvPr id="17" name="TextBox 16"/>
          <p:cNvSpPr txBox="1"/>
          <p:nvPr/>
        </p:nvSpPr>
        <p:spPr>
          <a:xfrm>
            <a:off x="6355080" y="4197096"/>
            <a:ext cx="5257800" cy="420624"/>
          </a:xfrm>
          <a:prstGeom prst="rect">
            <a:avLst/>
          </a:prstGeom>
          <a:noFill/>
        </p:spPr>
        <p:txBody>
          <a:bodyPr wrap="square" lIns="22860" rIns="22860" tIns="22860" bIns="22860">
            <a:spAutoFit/>
          </a:bodyPr>
          <a:lstStyle/>
          <a:p>
            <a:pPr>
              <a:spcAft>
                <a:spcPts val="800"/>
              </a:spcAft>
            </a:pPr>
            <a:r>
              <a:rPr sz="2000" b="0">
                <a:solidFill>
                  <a:srgbClr val="182636"/>
                </a:solidFill>
                <a:latin typeface="Aptos"/>
              </a:rPr>
              <a:t>Cum facem tehnologia usor de folosit.</a:t>
            </a:r>
          </a:p>
        </p:txBody>
      </p:sp>
      <p:sp>
        <p:nvSpPr>
          <p:cNvPr id="18" name="TextBox 17"/>
          <p:cNvSpPr txBox="1"/>
          <p:nvPr/>
        </p:nvSpPr>
        <p:spPr>
          <a:xfrm>
            <a:off x="731520" y="4636008"/>
            <a:ext cx="5257800" cy="365760"/>
          </a:xfrm>
          <a:prstGeom prst="rect">
            <a:avLst/>
          </a:prstGeom>
          <a:noFill/>
        </p:spPr>
        <p:txBody>
          <a:bodyPr wrap="square" lIns="22860" rIns="22860" tIns="22860" bIns="22860">
            <a:spAutoFit/>
          </a:bodyPr>
          <a:lstStyle/>
          <a:p>
            <a:pPr>
              <a:spcAft>
                <a:spcPts val="800"/>
              </a:spcAft>
            </a:pPr>
            <a:r>
              <a:rPr sz="1800" b="0">
                <a:solidFill>
                  <a:srgbClr val="526176"/>
                </a:solidFill>
                <a:latin typeface="Aptos"/>
              </a:rPr>
              <a:t>Iti place sa organizezi si sa explici?</a:t>
            </a:r>
          </a:p>
        </p:txBody>
      </p:sp>
      <p:sp>
        <p:nvSpPr>
          <p:cNvPr id="19" name="TextBox 18"/>
          <p:cNvSpPr txBox="1"/>
          <p:nvPr/>
        </p:nvSpPr>
        <p:spPr>
          <a:xfrm>
            <a:off x="731520" y="5065776"/>
            <a:ext cx="5257800" cy="512064"/>
          </a:xfrm>
          <a:prstGeom prst="rect">
            <a:avLst/>
          </a:prstGeom>
          <a:noFill/>
        </p:spPr>
        <p:txBody>
          <a:bodyPr wrap="square" lIns="22860" rIns="22860" tIns="22860" bIns="22860">
            <a:spAutoFit/>
          </a:bodyPr>
          <a:lstStyle/>
          <a:p>
            <a:pPr>
              <a:spcAft>
                <a:spcPts val="800"/>
              </a:spcAft>
            </a:pPr>
            <a:r>
              <a:rPr sz="2600" b="1">
                <a:solidFill>
                  <a:srgbClr val="244BDD"/>
                </a:solidFill>
                <a:latin typeface="Aptos"/>
              </a:rPr>
              <a:t>Product</a:t>
            </a:r>
          </a:p>
        </p:txBody>
      </p:sp>
      <p:sp>
        <p:nvSpPr>
          <p:cNvPr id="20" name="TextBox 19"/>
          <p:cNvSpPr txBox="1"/>
          <p:nvPr/>
        </p:nvSpPr>
        <p:spPr>
          <a:xfrm>
            <a:off x="731520" y="5586984"/>
            <a:ext cx="5257800" cy="420624"/>
          </a:xfrm>
          <a:prstGeom prst="rect">
            <a:avLst/>
          </a:prstGeom>
          <a:noFill/>
        </p:spPr>
        <p:txBody>
          <a:bodyPr wrap="square" lIns="22860" rIns="22860" tIns="22860" bIns="22860">
            <a:spAutoFit/>
          </a:bodyPr>
          <a:lstStyle/>
          <a:p>
            <a:pPr>
              <a:spcAft>
                <a:spcPts val="800"/>
              </a:spcAft>
            </a:pPr>
            <a:r>
              <a:rPr sz="2000" b="0">
                <a:solidFill>
                  <a:srgbClr val="182636"/>
                </a:solidFill>
                <a:latin typeface="Aptos"/>
              </a:rPr>
              <a:t>Ce problema merita rezolvata si pentru cine.</a:t>
            </a:r>
          </a:p>
        </p:txBody>
      </p:sp>
      <p:sp>
        <p:nvSpPr>
          <p:cNvPr id="21" name="TextBox 20"/>
          <p:cNvSpPr txBox="1"/>
          <p:nvPr/>
        </p:nvSpPr>
        <p:spPr>
          <a:xfrm>
            <a:off x="6355080" y="4636008"/>
            <a:ext cx="5257800" cy="365760"/>
          </a:xfrm>
          <a:prstGeom prst="rect">
            <a:avLst/>
          </a:prstGeom>
          <a:noFill/>
        </p:spPr>
        <p:txBody>
          <a:bodyPr wrap="square" lIns="22860" rIns="22860" tIns="22860" bIns="22860">
            <a:spAutoFit/>
          </a:bodyPr>
          <a:lstStyle/>
          <a:p>
            <a:pPr>
              <a:spcAft>
                <a:spcPts val="800"/>
              </a:spcAft>
            </a:pPr>
            <a:r>
              <a:rPr sz="1800" b="0">
                <a:solidFill>
                  <a:srgbClr val="526176"/>
                </a:solidFill>
                <a:latin typeface="Aptos"/>
              </a:rPr>
              <a:t>Te preocupa efectele asupra oamenilor?</a:t>
            </a:r>
          </a:p>
        </p:txBody>
      </p:sp>
      <p:sp>
        <p:nvSpPr>
          <p:cNvPr id="22" name="TextBox 21"/>
          <p:cNvSpPr txBox="1"/>
          <p:nvPr/>
        </p:nvSpPr>
        <p:spPr>
          <a:xfrm>
            <a:off x="6355080" y="5065776"/>
            <a:ext cx="5257800" cy="512064"/>
          </a:xfrm>
          <a:prstGeom prst="rect">
            <a:avLst/>
          </a:prstGeom>
          <a:noFill/>
        </p:spPr>
        <p:txBody>
          <a:bodyPr wrap="square" lIns="22860" rIns="22860" tIns="22860" bIns="22860">
            <a:spAutoFit/>
          </a:bodyPr>
          <a:lstStyle/>
          <a:p>
            <a:pPr>
              <a:spcAft>
                <a:spcPts val="800"/>
              </a:spcAft>
            </a:pPr>
            <a:r>
              <a:rPr sz="2600" b="1">
                <a:solidFill>
                  <a:srgbClr val="244BDD"/>
                </a:solidFill>
                <a:latin typeface="Aptos"/>
              </a:rPr>
              <a:t>Responsible AI</a:t>
            </a:r>
          </a:p>
        </p:txBody>
      </p:sp>
      <p:sp>
        <p:nvSpPr>
          <p:cNvPr id="23" name="TextBox 22"/>
          <p:cNvSpPr txBox="1"/>
          <p:nvPr/>
        </p:nvSpPr>
        <p:spPr>
          <a:xfrm>
            <a:off x="6355080" y="5586984"/>
            <a:ext cx="5257800" cy="420624"/>
          </a:xfrm>
          <a:prstGeom prst="rect">
            <a:avLst/>
          </a:prstGeom>
          <a:noFill/>
        </p:spPr>
        <p:txBody>
          <a:bodyPr wrap="square" lIns="22860" rIns="22860" tIns="22860" bIns="22860">
            <a:spAutoFit/>
          </a:bodyPr>
          <a:lstStyle/>
          <a:p>
            <a:pPr>
              <a:spcAft>
                <a:spcPts val="800"/>
              </a:spcAft>
            </a:pPr>
            <a:r>
              <a:rPr sz="2000" b="0">
                <a:solidFill>
                  <a:srgbClr val="182636"/>
                </a:solidFill>
                <a:latin typeface="Aptos"/>
              </a:rPr>
              <a:t>Riscuri, echitate si folosire responsabila.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182636"/>
                </a:solidFill>
                <a:latin typeface="Aptos Display"/>
              </a:rPr>
              <a:t>AI poate propune. Tu alegi ce conteaza.</a:t>
            </a:r>
          </a:p>
        </p:txBody>
      </p:sp>
      <p:sp>
        <p:nvSpPr>
          <p:cNvPr id="3" name="Rectangle 2"/>
          <p:cNvSpPr/>
          <p:nvPr/>
        </p:nvSpPr>
        <p:spPr>
          <a:xfrm>
            <a:off x="594360" y="6364224"/>
            <a:ext cx="10972800" cy="10972"/>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526176"/>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526176"/>
                </a:solidFill>
                <a:latin typeface="Aptos"/>
              </a:rPr>
              <a:t>12</a:t>
            </a:r>
          </a:p>
        </p:txBody>
      </p:sp>
      <p:sp>
        <p:nvSpPr>
          <p:cNvPr id="6" name="TextBox 5"/>
          <p:cNvSpPr txBox="1"/>
          <p:nvPr/>
        </p:nvSpPr>
        <p:spPr>
          <a:xfrm>
            <a:off x="731520" y="1792224"/>
            <a:ext cx="10698480" cy="594360"/>
          </a:xfrm>
          <a:prstGeom prst="rect">
            <a:avLst/>
          </a:prstGeom>
          <a:noFill/>
        </p:spPr>
        <p:txBody>
          <a:bodyPr wrap="square" lIns="22860" rIns="22860" tIns="22860" bIns="22860">
            <a:spAutoFit/>
          </a:bodyPr>
          <a:lstStyle/>
          <a:p>
            <a:pPr>
              <a:spcAft>
                <a:spcPts val="800"/>
              </a:spcAft>
            </a:pPr>
            <a:r>
              <a:rPr sz="2700" b="1">
                <a:solidFill>
                  <a:srgbClr val="182636"/>
                </a:solidFill>
                <a:latin typeface="Aptos"/>
              </a:rPr>
              <a:t>Un rol concret: decizi cum ar trebui sa functioneze pagina.</a:t>
            </a:r>
          </a:p>
        </p:txBody>
      </p:sp>
      <p:sp>
        <p:nvSpPr>
          <p:cNvPr id="7" name="Rectangle 6"/>
          <p:cNvSpPr/>
          <p:nvPr/>
        </p:nvSpPr>
        <p:spPr>
          <a:xfrm>
            <a:off x="731520" y="2743200"/>
            <a:ext cx="3383280" cy="2286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026664"/>
            <a:ext cx="3383280" cy="960120"/>
          </a:xfrm>
          <a:prstGeom prst="rect">
            <a:avLst/>
          </a:prstGeom>
          <a:noFill/>
        </p:spPr>
        <p:txBody>
          <a:bodyPr wrap="square" lIns="22860" rIns="22860" tIns="22860" bIns="22860">
            <a:spAutoFit/>
          </a:bodyPr>
          <a:lstStyle/>
          <a:p>
            <a:pPr>
              <a:spcAft>
                <a:spcPts val="800"/>
              </a:spcAft>
            </a:pPr>
            <a:r>
              <a:rPr sz="2700" b="1">
                <a:solidFill>
                  <a:srgbClr val="244BDD"/>
                </a:solidFill>
                <a:latin typeface="Aptos"/>
              </a:rPr>
              <a:t>AI poate ajuta</a:t>
            </a:r>
          </a:p>
        </p:txBody>
      </p:sp>
      <p:sp>
        <p:nvSpPr>
          <p:cNvPr id="9" name="TextBox 8"/>
          <p:cNvSpPr txBox="1"/>
          <p:nvPr/>
        </p:nvSpPr>
        <p:spPr>
          <a:xfrm>
            <a:off x="731520" y="4114800"/>
            <a:ext cx="3383280" cy="1554480"/>
          </a:xfrm>
          <a:prstGeom prst="rect">
            <a:avLst/>
          </a:prstGeom>
          <a:noFill/>
        </p:spPr>
        <p:txBody>
          <a:bodyPr wrap="square" lIns="22860" rIns="22860" tIns="22860" bIns="22860">
            <a:spAutoFit/>
          </a:bodyPr>
          <a:lstStyle/>
          <a:p>
            <a:pPr>
              <a:spcAft>
                <a:spcPts val="800"/>
              </a:spcAft>
            </a:pPr>
            <a:r>
              <a:rPr sz="2300" b="0">
                <a:solidFill>
                  <a:srgbClr val="182636"/>
                </a:solidFill>
                <a:latin typeface="Aptos"/>
              </a:rPr>
              <a:t>Variante de text.</a:t>
            </a:r>
          </a:p>
          <a:p>
            <a:pPr>
              <a:spcAft>
                <a:spcPts val="800"/>
              </a:spcAft>
            </a:pPr>
            <a:r>
              <a:rPr sz="2300" b="0">
                <a:solidFill>
                  <a:srgbClr val="182636"/>
                </a:solidFill>
                <a:latin typeface="Aptos"/>
              </a:rPr>
              <a:t>Schite de pagina.</a:t>
            </a:r>
          </a:p>
          <a:p>
            <a:pPr>
              <a:spcAft>
                <a:spcPts val="800"/>
              </a:spcAft>
            </a:pPr>
            <a:r>
              <a:rPr sz="2300" b="0">
                <a:solidFill>
                  <a:srgbClr val="182636"/>
                </a:solidFill>
                <a:latin typeface="Aptos"/>
              </a:rPr>
              <a:t>Idei pentru program.</a:t>
            </a:r>
          </a:p>
        </p:txBody>
      </p:sp>
      <p:sp>
        <p:nvSpPr>
          <p:cNvPr id="10" name="Rectangle 9"/>
          <p:cNvSpPr/>
          <p:nvPr/>
        </p:nvSpPr>
        <p:spPr>
          <a:xfrm>
            <a:off x="4480559" y="2743200"/>
            <a:ext cx="3383280" cy="2286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3026664"/>
            <a:ext cx="3383280" cy="960120"/>
          </a:xfrm>
          <a:prstGeom prst="rect">
            <a:avLst/>
          </a:prstGeom>
          <a:noFill/>
        </p:spPr>
        <p:txBody>
          <a:bodyPr wrap="square" lIns="22860" rIns="22860" tIns="22860" bIns="22860">
            <a:spAutoFit/>
          </a:bodyPr>
          <a:lstStyle/>
          <a:p>
            <a:pPr>
              <a:spcAft>
                <a:spcPts val="800"/>
              </a:spcAft>
            </a:pPr>
            <a:r>
              <a:rPr sz="2700" b="1">
                <a:solidFill>
                  <a:srgbClr val="244BDD"/>
                </a:solidFill>
                <a:latin typeface="Aptos"/>
              </a:rPr>
              <a:t>Omul judeca</a:t>
            </a:r>
          </a:p>
        </p:txBody>
      </p:sp>
      <p:sp>
        <p:nvSpPr>
          <p:cNvPr id="12" name="TextBox 11"/>
          <p:cNvSpPr txBox="1"/>
          <p:nvPr/>
        </p:nvSpPr>
        <p:spPr>
          <a:xfrm>
            <a:off x="4480559" y="4114800"/>
            <a:ext cx="3383280" cy="1554480"/>
          </a:xfrm>
          <a:prstGeom prst="rect">
            <a:avLst/>
          </a:prstGeom>
          <a:noFill/>
        </p:spPr>
        <p:txBody>
          <a:bodyPr wrap="square" lIns="22860" rIns="22860" tIns="22860" bIns="22860">
            <a:spAutoFit/>
          </a:bodyPr>
          <a:lstStyle/>
          <a:p>
            <a:pPr>
              <a:spcAft>
                <a:spcPts val="800"/>
              </a:spcAft>
            </a:pPr>
            <a:r>
              <a:rPr sz="2300" b="0">
                <a:solidFill>
                  <a:srgbClr val="182636"/>
                </a:solidFill>
                <a:latin typeface="Aptos"/>
              </a:rPr>
              <a:t>Cui ii este utila?</a:t>
            </a:r>
          </a:p>
          <a:p>
            <a:pPr>
              <a:spcAft>
                <a:spcPts val="800"/>
              </a:spcAft>
            </a:pPr>
            <a:r>
              <a:rPr sz="2300" b="0">
                <a:solidFill>
                  <a:srgbClr val="182636"/>
                </a:solidFill>
                <a:latin typeface="Aptos"/>
              </a:rPr>
              <a:t>Cine ramane pe dinafara?</a:t>
            </a:r>
          </a:p>
          <a:p>
            <a:pPr>
              <a:spcAft>
                <a:spcPts val="800"/>
              </a:spcAft>
            </a:pPr>
            <a:r>
              <a:rPr sz="2300" b="0">
                <a:solidFill>
                  <a:srgbClr val="182636"/>
                </a:solidFill>
                <a:latin typeface="Aptos"/>
              </a:rPr>
              <a:t>Ce putem promite?</a:t>
            </a:r>
          </a:p>
        </p:txBody>
      </p:sp>
      <p:sp>
        <p:nvSpPr>
          <p:cNvPr id="13" name="Rectangle 12"/>
          <p:cNvSpPr/>
          <p:nvPr/>
        </p:nvSpPr>
        <p:spPr>
          <a:xfrm>
            <a:off x="8229600" y="2743200"/>
            <a:ext cx="3383280" cy="22860"/>
          </a:xfrm>
          <a:prstGeom prst="rect">
            <a:avLst/>
          </a:prstGeom>
          <a:solidFill>
            <a:srgbClr val="244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3026664"/>
            <a:ext cx="3383280" cy="960120"/>
          </a:xfrm>
          <a:prstGeom prst="rect">
            <a:avLst/>
          </a:prstGeom>
          <a:noFill/>
        </p:spPr>
        <p:txBody>
          <a:bodyPr wrap="square" lIns="22860" rIns="22860" tIns="22860" bIns="22860">
            <a:spAutoFit/>
          </a:bodyPr>
          <a:lstStyle/>
          <a:p>
            <a:pPr>
              <a:spcAft>
                <a:spcPts val="800"/>
              </a:spcAft>
            </a:pPr>
            <a:r>
              <a:rPr sz="2700" b="1">
                <a:solidFill>
                  <a:srgbClr val="244BDD"/>
                </a:solidFill>
                <a:latin typeface="Aptos"/>
              </a:rPr>
              <a:t>Ce ar putea urma</a:t>
            </a:r>
          </a:p>
        </p:txBody>
      </p:sp>
      <p:sp>
        <p:nvSpPr>
          <p:cNvPr id="15" name="TextBox 14"/>
          <p:cNvSpPr txBox="1"/>
          <p:nvPr/>
        </p:nvSpPr>
        <p:spPr>
          <a:xfrm>
            <a:off x="8229600" y="4114800"/>
            <a:ext cx="3383280" cy="1554480"/>
          </a:xfrm>
          <a:prstGeom prst="rect">
            <a:avLst/>
          </a:prstGeom>
          <a:noFill/>
        </p:spPr>
        <p:txBody>
          <a:bodyPr wrap="square" lIns="22860" rIns="22860" tIns="22860" bIns="22860">
            <a:spAutoFit/>
          </a:bodyPr>
          <a:lstStyle/>
          <a:p>
            <a:pPr>
              <a:spcAft>
                <a:spcPts val="800"/>
              </a:spcAft>
            </a:pPr>
            <a:r>
              <a:rPr sz="2300" b="0">
                <a:solidFill>
                  <a:srgbClr val="182636"/>
                </a:solidFill>
                <a:latin typeface="Aptos"/>
              </a:rPr>
              <a:t>Mai multi pasi automatizati.</a:t>
            </a:r>
          </a:p>
          <a:p>
            <a:pPr>
              <a:spcAft>
                <a:spcPts val="800"/>
              </a:spcAft>
            </a:pPr>
            <a:r>
              <a:rPr sz="2300" b="0">
                <a:solidFill>
                  <a:srgbClr val="182636"/>
                </a:solidFill>
                <a:latin typeface="Aptos"/>
              </a:rPr>
              <a:t>Mai multa verificare.</a:t>
            </a:r>
          </a:p>
          <a:p>
            <a:pPr>
              <a:spcAft>
                <a:spcPts val="800"/>
              </a:spcAft>
            </a:pPr>
            <a:r>
              <a:rPr sz="2300" b="0">
                <a:solidFill>
                  <a:srgbClr val="182636"/>
                </a:solidFill>
                <a:latin typeface="Aptos"/>
              </a:rPr>
              <a:t>Noi alegeri si responsabilitati.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182636"/>
                </a:solidFill>
                <a:latin typeface="Aptos Display"/>
              </a:rPr>
              <a:t>Nu trebuie sa stii totul ca sa incepi.</a:t>
            </a:r>
          </a:p>
        </p:txBody>
      </p:sp>
      <p:sp>
        <p:nvSpPr>
          <p:cNvPr id="3" name="Rectangle 2"/>
          <p:cNvSpPr/>
          <p:nvPr/>
        </p:nvSpPr>
        <p:spPr>
          <a:xfrm>
            <a:off x="594360" y="6364224"/>
            <a:ext cx="10972800" cy="10972"/>
          </a:xfrm>
          <a:prstGeom prst="rect">
            <a:avLst/>
          </a:prstGeom>
          <a:solidFill>
            <a:srgbClr val="C7C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526176"/>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526176"/>
                </a:solidFill>
                <a:latin typeface="Aptos"/>
              </a:rPr>
              <a:t>13</a:t>
            </a:r>
          </a:p>
        </p:txBody>
      </p:sp>
      <p:sp>
        <p:nvSpPr>
          <p:cNvPr id="6" name="TextBox 5"/>
          <p:cNvSpPr txBox="1"/>
          <p:nvPr/>
        </p:nvSpPr>
        <p:spPr>
          <a:xfrm>
            <a:off x="731520" y="2011680"/>
            <a:ext cx="5394960" cy="694944"/>
          </a:xfrm>
          <a:prstGeom prst="rect">
            <a:avLst/>
          </a:prstGeom>
          <a:noFill/>
        </p:spPr>
        <p:txBody>
          <a:bodyPr wrap="square" lIns="22860" rIns="22860" tIns="22860" bIns="22860">
            <a:spAutoFit/>
          </a:bodyPr>
          <a:lstStyle/>
          <a:p>
            <a:pPr>
              <a:spcAft>
                <a:spcPts val="800"/>
              </a:spcAft>
            </a:pPr>
            <a:r>
              <a:rPr sz="3100" b="1">
                <a:solidFill>
                  <a:srgbClr val="244BDD"/>
                </a:solidFill>
                <a:latin typeface="Aptos"/>
              </a:rPr>
              <a:t>Incearca un proiect mic.</a:t>
            </a:r>
          </a:p>
        </p:txBody>
      </p:sp>
      <p:sp>
        <p:nvSpPr>
          <p:cNvPr id="7" name="TextBox 6"/>
          <p:cNvSpPr txBox="1"/>
          <p:nvPr/>
        </p:nvSpPr>
        <p:spPr>
          <a:xfrm>
            <a:off x="731520" y="3026664"/>
            <a:ext cx="5257800" cy="1920240"/>
          </a:xfrm>
          <a:prstGeom prst="rect">
            <a:avLst/>
          </a:prstGeom>
          <a:noFill/>
        </p:spPr>
        <p:txBody>
          <a:bodyPr wrap="square" lIns="22860" rIns="22860" tIns="22860" bIns="22860">
            <a:spAutoFit/>
          </a:bodyPr>
          <a:lstStyle/>
          <a:p>
            <a:pPr>
              <a:spcAft>
                <a:spcPts val="800"/>
              </a:spcAft>
            </a:pPr>
            <a:r>
              <a:rPr sz="2500" b="0">
                <a:solidFill>
                  <a:srgbClr val="182636"/>
                </a:solidFill>
                <a:latin typeface="Aptos"/>
              </a:rPr>
              <a:t>GitHub Copilot Free</a:t>
            </a:r>
          </a:p>
          <a:p>
            <a:pPr>
              <a:spcAft>
                <a:spcPts val="800"/>
              </a:spcAft>
            </a:pPr>
            <a:r>
              <a:rPr sz="2500" b="0">
                <a:solidFill>
                  <a:srgbClr val="182636"/>
                </a:solidFill>
                <a:latin typeface="Aptos"/>
              </a:rPr>
              <a:t>Acces gratuit, cu limite.</a:t>
            </a:r>
          </a:p>
          <a:p>
            <a:pPr>
              <a:spcAft>
                <a:spcPts val="800"/>
              </a:spcAft>
            </a:pPr>
          </a:p>
          <a:p>
            <a:pPr>
              <a:spcAft>
                <a:spcPts val="800"/>
              </a:spcAft>
            </a:pPr>
            <a:r>
              <a:rPr sz="2500" b="0">
                <a:solidFill>
                  <a:srgbClr val="182636"/>
                </a:solidFill>
                <a:latin typeface="Aptos"/>
              </a:rPr>
              <a:t>GitHub Education</a:t>
            </a:r>
          </a:p>
          <a:p>
            <a:pPr>
              <a:spcAft>
                <a:spcPts val="800"/>
              </a:spcAft>
            </a:pPr>
            <a:r>
              <a:rPr sz="2500" b="0">
                <a:solidFill>
                  <a:srgbClr val="182636"/>
                </a:solidFill>
                <a:latin typeface="Aptos"/>
              </a:rPr>
              <a:t>Beneficii pentru elevii eligibili.</a:t>
            </a:r>
          </a:p>
        </p:txBody>
      </p:sp>
      <p:sp>
        <p:nvSpPr>
          <p:cNvPr id="8" name="TextBox 7"/>
          <p:cNvSpPr txBox="1"/>
          <p:nvPr/>
        </p:nvSpPr>
        <p:spPr>
          <a:xfrm>
            <a:off x="6583680" y="2011680"/>
            <a:ext cx="4663440" cy="694944"/>
          </a:xfrm>
          <a:prstGeom prst="rect">
            <a:avLst/>
          </a:prstGeom>
          <a:noFill/>
        </p:spPr>
        <p:txBody>
          <a:bodyPr wrap="square" lIns="22860" rIns="22860" tIns="22860" bIns="22860">
            <a:spAutoFit/>
          </a:bodyPr>
          <a:lstStyle/>
          <a:p>
            <a:pPr>
              <a:spcAft>
                <a:spcPts val="800"/>
              </a:spcAft>
            </a:pPr>
            <a:r>
              <a:rPr sz="3000" b="1">
                <a:solidFill>
                  <a:srgbClr val="182636"/>
                </a:solidFill>
                <a:latin typeface="Aptos"/>
              </a:rPr>
              <a:t>Sau incepe cu o intrebare.</a:t>
            </a:r>
          </a:p>
        </p:txBody>
      </p:sp>
      <p:sp>
        <p:nvSpPr>
          <p:cNvPr id="9" name="TextBox 8"/>
          <p:cNvSpPr txBox="1"/>
          <p:nvPr/>
        </p:nvSpPr>
        <p:spPr>
          <a:xfrm>
            <a:off x="6583680" y="3026664"/>
            <a:ext cx="4663440" cy="1965960"/>
          </a:xfrm>
          <a:prstGeom prst="rect">
            <a:avLst/>
          </a:prstGeom>
          <a:noFill/>
        </p:spPr>
        <p:txBody>
          <a:bodyPr wrap="square" lIns="22860" rIns="22860" tIns="22860" bIns="22860">
            <a:spAutoFit/>
          </a:bodyPr>
          <a:lstStyle/>
          <a:p>
            <a:pPr>
              <a:spcAft>
                <a:spcPts val="800"/>
              </a:spcAft>
            </a:pPr>
            <a:r>
              <a:rPr sz="2600" b="0">
                <a:solidFill>
                  <a:srgbClr val="182636"/>
                </a:solidFill>
                <a:latin typeface="Aptos"/>
              </a:rPr>
              <a:t>Descrie ideea pe hartie.</a:t>
            </a:r>
          </a:p>
          <a:p>
            <a:pPr>
              <a:spcAft>
                <a:spcPts val="800"/>
              </a:spcAft>
            </a:pPr>
            <a:r>
              <a:rPr sz="2600" b="0">
                <a:solidFill>
                  <a:srgbClr val="182636"/>
                </a:solidFill>
                <a:latin typeface="Aptos"/>
              </a:rPr>
              <a:t>Compara doua variante.</a:t>
            </a:r>
          </a:p>
          <a:p>
            <a:pPr>
              <a:spcAft>
                <a:spcPts val="800"/>
              </a:spcAft>
            </a:pPr>
            <a:r>
              <a:rPr sz="2600" b="0">
                <a:solidFill>
                  <a:srgbClr val="182636"/>
                </a:solidFill>
                <a:latin typeface="Aptos"/>
              </a:rPr>
              <a:t>Alege ce ai verifica.</a:t>
            </a:r>
          </a:p>
        </p:txBody>
      </p:sp>
      <p:sp>
        <p:nvSpPr>
          <p:cNvPr id="10" name="TextBox 9"/>
          <p:cNvSpPr txBox="1"/>
          <p:nvPr/>
        </p:nvSpPr>
        <p:spPr>
          <a:xfrm>
            <a:off x="731520" y="5596128"/>
            <a:ext cx="10607040" cy="420624"/>
          </a:xfrm>
          <a:prstGeom prst="rect">
            <a:avLst/>
          </a:prstGeom>
          <a:noFill/>
        </p:spPr>
        <p:txBody>
          <a:bodyPr wrap="square" lIns="22860" rIns="22860" tIns="22860" bIns="22860">
            <a:spAutoFit/>
          </a:bodyPr>
          <a:lstStyle/>
          <a:p>
            <a:pPr>
              <a:spcAft>
                <a:spcPts val="800"/>
              </a:spcAft>
            </a:pPr>
            <a:r>
              <a:rPr sz="1600" b="0">
                <a:solidFill>
                  <a:srgbClr val="526176"/>
                </a:solidFill>
                <a:latin typeface="Aptos"/>
              </a:rPr>
              <a:t>github.com/copilot   |   education.github.com/pack   |   3blue1brown.com/lessons/mini-llm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82636"/>
        </a:solidFill>
        <a:effectLst/>
      </p:bgPr>
    </p:bg>
    <p:spTree>
      <p:nvGrpSpPr>
        <p:cNvPr id="1" name=""/>
        <p:cNvGrpSpPr/>
        <p:nvPr/>
      </p:nvGrpSpPr>
      <p:grpSpPr/>
      <p:sp>
        <p:nvSpPr>
          <p:cNvPr id="2" name="TextBox 1"/>
          <p:cNvSpPr txBox="1"/>
          <p:nvPr/>
        </p:nvSpPr>
        <p:spPr>
          <a:xfrm>
            <a:off x="594360" y="512064"/>
            <a:ext cx="10991088" cy="1143000"/>
          </a:xfrm>
          <a:prstGeom prst="rect">
            <a:avLst/>
          </a:prstGeom>
          <a:noFill/>
        </p:spPr>
        <p:txBody>
          <a:bodyPr wrap="square" lIns="22860" rIns="22860" tIns="22860" bIns="22860">
            <a:spAutoFit/>
          </a:bodyPr>
          <a:lstStyle/>
          <a:p>
            <a:pPr>
              <a:spcAft>
                <a:spcPts val="800"/>
              </a:spcAft>
            </a:pPr>
            <a:r>
              <a:rPr sz="3600" b="1">
                <a:solidFill>
                  <a:srgbClr val="FFFFFF"/>
                </a:solidFill>
                <a:latin typeface="Aptos Display"/>
              </a:rPr>
              <a:t>AI poate mult. Intrebarile raman ale tale.</a:t>
            </a:r>
          </a:p>
        </p:txBody>
      </p:sp>
      <p:sp>
        <p:nvSpPr>
          <p:cNvPr id="3" name="Rectangle 2"/>
          <p:cNvSpPr/>
          <p:nvPr/>
        </p:nvSpPr>
        <p:spPr>
          <a:xfrm>
            <a:off x="594360" y="6364224"/>
            <a:ext cx="10972800" cy="10972"/>
          </a:xfrm>
          <a:prstGeom prst="rect">
            <a:avLst/>
          </a:prstGeom>
          <a:solidFill>
            <a:srgbClr val="8190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73952"/>
            <a:ext cx="10058400" cy="201168"/>
          </a:xfrm>
          <a:prstGeom prst="rect">
            <a:avLst/>
          </a:prstGeom>
          <a:noFill/>
        </p:spPr>
        <p:txBody>
          <a:bodyPr wrap="square" lIns="22860" rIns="22860" tIns="22860" bIns="22860">
            <a:spAutoFit/>
          </a:bodyPr>
          <a:lstStyle/>
          <a:p>
            <a:pPr>
              <a:spcAft>
                <a:spcPts val="800"/>
              </a:spcAft>
            </a:pPr>
            <a:r>
              <a:rPr sz="900" b="0">
                <a:solidFill>
                  <a:srgbClr val="CDD6E1"/>
                </a:solidFill>
                <a:latin typeface="Aptos"/>
              </a:rPr>
              <a:t>CARTEA DALIEI  /  CUM A AJUNS AI ATAT DE CAPABIL SI CE POTI FACE TU CU EL?</a:t>
            </a:r>
          </a:p>
        </p:txBody>
      </p:sp>
      <p:sp>
        <p:nvSpPr>
          <p:cNvPr id="5" name="TextBox 4"/>
          <p:cNvSpPr txBox="1"/>
          <p:nvPr/>
        </p:nvSpPr>
        <p:spPr>
          <a:xfrm>
            <a:off x="11036808" y="6419088"/>
            <a:ext cx="548640" cy="292608"/>
          </a:xfrm>
          <a:prstGeom prst="rect">
            <a:avLst/>
          </a:prstGeom>
          <a:noFill/>
        </p:spPr>
        <p:txBody>
          <a:bodyPr wrap="square" lIns="22860" rIns="22860" tIns="22860" bIns="22860">
            <a:spAutoFit/>
          </a:bodyPr>
          <a:lstStyle/>
          <a:p>
            <a:pPr>
              <a:spcAft>
                <a:spcPts val="800"/>
              </a:spcAft>
            </a:pPr>
            <a:r>
              <a:rPr sz="1400" b="1">
                <a:solidFill>
                  <a:srgbClr val="FFFFFF"/>
                </a:solidFill>
                <a:latin typeface="Aptos"/>
              </a:rPr>
              <a:t>14</a:t>
            </a:r>
          </a:p>
        </p:txBody>
      </p:sp>
      <p:sp>
        <p:nvSpPr>
          <p:cNvPr id="6" name="TextBox 5"/>
          <p:cNvSpPr txBox="1"/>
          <p:nvPr/>
        </p:nvSpPr>
        <p:spPr>
          <a:xfrm>
            <a:off x="777240" y="1920240"/>
            <a:ext cx="4663440" cy="612648"/>
          </a:xfrm>
          <a:prstGeom prst="rect">
            <a:avLst/>
          </a:prstGeom>
          <a:noFill/>
        </p:spPr>
        <p:txBody>
          <a:bodyPr wrap="square" lIns="22860" rIns="22860" tIns="22860" bIns="22860">
            <a:spAutoFit/>
          </a:bodyPr>
          <a:lstStyle/>
          <a:p>
            <a:pPr>
              <a:spcAft>
                <a:spcPts val="800"/>
              </a:spcAft>
            </a:pPr>
            <a:r>
              <a:rPr sz="2900" b="1">
                <a:solidFill>
                  <a:srgbClr val="D6EC79"/>
                </a:solidFill>
                <a:latin typeface="Aptos"/>
              </a:rPr>
              <a:t>Un instrument puternic.</a:t>
            </a:r>
          </a:p>
        </p:txBody>
      </p:sp>
      <p:sp>
        <p:nvSpPr>
          <p:cNvPr id="7" name="TextBox 6"/>
          <p:cNvSpPr txBox="1"/>
          <p:nvPr/>
        </p:nvSpPr>
        <p:spPr>
          <a:xfrm>
            <a:off x="5715000" y="1920240"/>
            <a:ext cx="5577840" cy="777240"/>
          </a:xfrm>
          <a:prstGeom prst="rect">
            <a:avLst/>
          </a:prstGeom>
          <a:noFill/>
        </p:spPr>
        <p:txBody>
          <a:bodyPr wrap="square" lIns="22860" rIns="22860" tIns="22860" bIns="22860">
            <a:spAutoFit/>
          </a:bodyPr>
          <a:lstStyle/>
          <a:p>
            <a:pPr>
              <a:spcAft>
                <a:spcPts val="800"/>
              </a:spcAft>
            </a:pPr>
            <a:r>
              <a:rPr sz="2600" b="0">
                <a:solidFill>
                  <a:srgbClr val="FFFFFF"/>
                </a:solidFill>
                <a:latin typeface="Aptos"/>
              </a:rPr>
              <a:t>Poate ajuta mult. Poate si gresi.</a:t>
            </a:r>
          </a:p>
        </p:txBody>
      </p:sp>
      <p:sp>
        <p:nvSpPr>
          <p:cNvPr id="8" name="TextBox 7"/>
          <p:cNvSpPr txBox="1"/>
          <p:nvPr/>
        </p:nvSpPr>
        <p:spPr>
          <a:xfrm>
            <a:off x="777240" y="2999232"/>
            <a:ext cx="4663440" cy="612648"/>
          </a:xfrm>
          <a:prstGeom prst="rect">
            <a:avLst/>
          </a:prstGeom>
          <a:noFill/>
        </p:spPr>
        <p:txBody>
          <a:bodyPr wrap="square" lIns="22860" rIns="22860" tIns="22860" bIns="22860">
            <a:spAutoFit/>
          </a:bodyPr>
          <a:lstStyle/>
          <a:p>
            <a:pPr>
              <a:spcAft>
                <a:spcPts val="800"/>
              </a:spcAft>
            </a:pPr>
            <a:r>
              <a:rPr sz="2900" b="1">
                <a:solidFill>
                  <a:srgbClr val="D6EC79"/>
                </a:solidFill>
                <a:latin typeface="Aptos"/>
              </a:rPr>
              <a:t>Tu aduci valoare.</a:t>
            </a:r>
          </a:p>
        </p:txBody>
      </p:sp>
      <p:sp>
        <p:nvSpPr>
          <p:cNvPr id="9" name="TextBox 8"/>
          <p:cNvSpPr txBox="1"/>
          <p:nvPr/>
        </p:nvSpPr>
        <p:spPr>
          <a:xfrm>
            <a:off x="5715000" y="2999232"/>
            <a:ext cx="5577840" cy="777240"/>
          </a:xfrm>
          <a:prstGeom prst="rect">
            <a:avLst/>
          </a:prstGeom>
          <a:noFill/>
        </p:spPr>
        <p:txBody>
          <a:bodyPr wrap="square" lIns="22860" rIns="22860" tIns="22860" bIns="22860">
            <a:spAutoFit/>
          </a:bodyPr>
          <a:lstStyle/>
          <a:p>
            <a:pPr>
              <a:spcAft>
                <a:spcPts val="800"/>
              </a:spcAft>
            </a:pPr>
            <a:r>
              <a:rPr sz="2600" b="0">
                <a:solidFill>
                  <a:srgbClr val="FFFFFF"/>
                </a:solidFill>
                <a:latin typeface="Aptos"/>
              </a:rPr>
              <a:t>Prin intrebari, alegeri si gandire.</a:t>
            </a:r>
          </a:p>
        </p:txBody>
      </p:sp>
      <p:sp>
        <p:nvSpPr>
          <p:cNvPr id="10" name="TextBox 9"/>
          <p:cNvSpPr txBox="1"/>
          <p:nvPr/>
        </p:nvSpPr>
        <p:spPr>
          <a:xfrm>
            <a:off x="777240" y="4078224"/>
            <a:ext cx="4663440" cy="612648"/>
          </a:xfrm>
          <a:prstGeom prst="rect">
            <a:avLst/>
          </a:prstGeom>
          <a:noFill/>
        </p:spPr>
        <p:txBody>
          <a:bodyPr wrap="square" lIns="22860" rIns="22860" tIns="22860" bIns="22860">
            <a:spAutoFit/>
          </a:bodyPr>
          <a:lstStyle/>
          <a:p>
            <a:pPr>
              <a:spcAft>
                <a:spcPts val="800"/>
              </a:spcAft>
            </a:pPr>
            <a:r>
              <a:rPr sz="2900" b="1">
                <a:solidFill>
                  <a:srgbClr val="D6EC79"/>
                </a:solidFill>
                <a:latin typeface="Aptos"/>
              </a:rPr>
              <a:t>Poti incepe de acum.</a:t>
            </a:r>
          </a:p>
        </p:txBody>
      </p:sp>
      <p:sp>
        <p:nvSpPr>
          <p:cNvPr id="11" name="TextBox 10"/>
          <p:cNvSpPr txBox="1"/>
          <p:nvPr/>
        </p:nvSpPr>
        <p:spPr>
          <a:xfrm>
            <a:off x="5715000" y="4078224"/>
            <a:ext cx="5577840" cy="777240"/>
          </a:xfrm>
          <a:prstGeom prst="rect">
            <a:avLst/>
          </a:prstGeom>
          <a:noFill/>
        </p:spPr>
        <p:txBody>
          <a:bodyPr wrap="square" lIns="22860" rIns="22860" tIns="22860" bIns="22860">
            <a:spAutoFit/>
          </a:bodyPr>
          <a:lstStyle/>
          <a:p>
            <a:pPr>
              <a:spcAft>
                <a:spcPts val="800"/>
              </a:spcAft>
            </a:pPr>
            <a:r>
              <a:rPr sz="2600" b="0">
                <a:solidFill>
                  <a:srgbClr val="FFFFFF"/>
                </a:solidFill>
                <a:latin typeface="Aptos"/>
              </a:rPr>
              <a:t>Nu trebuie sa stii deja totul.</a:t>
            </a:r>
          </a:p>
        </p:txBody>
      </p:sp>
      <p:sp>
        <p:nvSpPr>
          <p:cNvPr id="12" name="TextBox 11"/>
          <p:cNvSpPr txBox="1"/>
          <p:nvPr/>
        </p:nvSpPr>
        <p:spPr>
          <a:xfrm>
            <a:off x="777240" y="5596128"/>
            <a:ext cx="10424160" cy="475488"/>
          </a:xfrm>
          <a:prstGeom prst="rect">
            <a:avLst/>
          </a:prstGeom>
          <a:noFill/>
        </p:spPr>
        <p:txBody>
          <a:bodyPr wrap="square" lIns="22860" rIns="22860" tIns="22860" bIns="22860">
            <a:spAutoFit/>
          </a:bodyPr>
          <a:lstStyle/>
          <a:p>
            <a:pPr>
              <a:spcAft>
                <a:spcPts val="800"/>
              </a:spcAft>
            </a:pPr>
            <a:r>
              <a:rPr sz="2600" b="1">
                <a:solidFill>
                  <a:srgbClr val="FFFFFF"/>
                </a:solidFill>
                <a:latin typeface="Aptos"/>
              </a:rPr>
              <a:t>Ce ai vrea sa creezi? Ce ai verifica prima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ns0:coreProperties xmlns:dc="http://purl.org/dc/elements/1.1/" xmlns:ns0="http://schemas.openxmlformats.org/package/2006/metadata/core-properties" xmlns:ns2="http://purl.org/dc/terms/" xmlns:xsi="http://www.w3.org/2001/XMLSchema-instance">
  <dc:title>Cum a ajuns AI atat de capabil si ce poti face tu cu el?</dc:title>
  <dc:subject>Cartea Daliei - liceu - versiune pentru review</dc:subject>
  <ns0:revision>1</ns0:revision>
  <ns2:created xsi:type="dcterms:W3CDTF">2013-01-27T09:14:16Z</ns2:created>
  <ns2:modified xsi:type="dcterms:W3CDTF">2013-01-27T09:15:58Z</ns2:modified>
  <ns0:category/>
</ns0:coreProperties>
</file>