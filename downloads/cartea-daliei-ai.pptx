
<file path=[Content_Types].xml><?xml version="1.0" encoding="utf-8"?>
<ns0:Types xmlns:ns0="http://schemas.openxmlformats.org/package/2006/content-types">
  <ns0:Default Extension="bin" ContentType="application/vnd.openxmlformats-officedocument.presentationml.printerSettings"/>
  <ns0:Default Extension="jpeg" ContentType="image/jpeg"/>
  <ns0:Default Extension="png" ContentType="image/pn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theme/theme2.xml" ContentType="application/vnd.openxmlformats-officedocument.theme+xml"/>
  <ns0:Override PartName="/ppt/viewProps.xml" ContentType="application/vnd.openxmlformats-officedocument.presentationml.viewProps+xml"/>
</ns0:Types>
</file>

<file path=_rels/.rels><?xml version='1.0' encoding='utf-8'?>
<ns0:Relationships xmlns:ns0="http://schemas.openxmlformats.org/package/2006/relationships"><ns0:Relationship Id="rId1" Type="http://schemas.openxmlformats.org/officeDocument/2006/relationships/officeDocument" Target="ppt/presentation.xml" /><ns0:Relationship Id="rId2" Type="http://schemas.openxmlformats.org/package/2006/relationships/metadata/thumbnail" Target="docProps/thumbnail.jpeg" /><ns0:Relationship Id="rId3" Type="http://schemas.openxmlformats.org/package/2006/relationships/metadata/core-properties" Target="docProps/core.xml" /><ns0:Relationship Id="rId4" Type="http://schemas.openxmlformats.org/officeDocument/2006/relationships/extended-properties" Target="docProps/app.xml" /></ns0: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saveSubsetFonts="1" autoCompressPictures="0">
  <ns0:sldMasterIdLst>
    <ns0:sldMasterId id="2147483648" ns1:id="rId1"/>
  </ns0:sldMasterIdLst>
  <ns0:sldIdLst>
    <ns0:sldId id="256" ns1:id="rId7"/>
    <ns0:sldId id="257" ns1:id="rId9"/>
    <ns0:sldId id="258" ns1:id="rId10"/>
    <ns0:sldId id="259" ns1:id="rId11"/>
    <ns0:sldId id="260" ns1:id="rId12"/>
    <ns0:sldId id="261" ns1:id="rId13"/>
    <ns0:sldId id="262" ns1:id="rId14"/>
    <ns0:sldId id="263" ns1:id="rId15"/>
    <ns0:sldId id="264" ns1:id="rId16"/>
    <ns0:sldId id="265" ns1:id="rId17"/>
    <ns0:sldId id="266" ns1:id="rId18"/>
    <ns0:sldId id="267" ns1:id="rId19"/>
    <ns0:sldId id="268" ns1:id="rId20"/>
    <ns0:sldId id="269" ns1:id="rId21"/>
  </ns0:sldIdLst>
  <ns0:sldSz cx="12191695" cy="6858000" type="screen4x3"/>
  <ns0:notesSz cx="6858000" cy="9144000"/>
  <ns0:defaultTextStyle>
    <ns2:defPPr>
      <ns2:defRPr lang="en-US"/>
    </ns2:defPPr>
    <ns2:lvl1pPr marL="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?>
<ns0:Relationships xmlns:ns0="http://schemas.openxmlformats.org/package/2006/relationships"><ns0:Relationship Id="rId1" Type="http://schemas.openxmlformats.org/officeDocument/2006/relationships/slideMaster" Target="slideMasters/slideMaster1.xml" /><ns0:Relationship Id="rId2" Type="http://schemas.openxmlformats.org/officeDocument/2006/relationships/printerSettings" Target="printerSettings/printerSettings1.bin" /><ns0:Relationship Id="rId3" Type="http://schemas.openxmlformats.org/officeDocument/2006/relationships/presProps" Target="presProps.xml" /><ns0:Relationship Id="rId4" Type="http://schemas.openxmlformats.org/officeDocument/2006/relationships/viewProps" Target="viewProps.xml" /><ns0:Relationship Id="rId5" Type="http://schemas.openxmlformats.org/officeDocument/2006/relationships/theme" Target="theme/theme1.xml" /><ns0:Relationship Id="rId6" Type="http://schemas.openxmlformats.org/officeDocument/2006/relationships/tableStyles" Target="tableStyles.xml" /><ns0:Relationship Id="rId7" Type="http://schemas.openxmlformats.org/officeDocument/2006/relationships/slide" Target="slides/slide1.xml" /><ns0:Relationship Id="rId9" Type="http://schemas.openxmlformats.org/officeDocument/2006/relationships/slide" Target="slides/slide2.xml" /><ns0:Relationship Id="rId10" Type="http://schemas.openxmlformats.org/officeDocument/2006/relationships/slide" Target="slides/slide3.xml" /><ns0:Relationship Id="rId11" Type="http://schemas.openxmlformats.org/officeDocument/2006/relationships/slide" Target="slides/slide4.xml" /><ns0:Relationship Id="rId12" Type="http://schemas.openxmlformats.org/officeDocument/2006/relationships/slide" Target="slides/slide5.xml" /><ns0:Relationship Id="rId13" Type="http://schemas.openxmlformats.org/officeDocument/2006/relationships/slide" Target="slides/slide6.xml" /><ns0:Relationship Id="rId14" Type="http://schemas.openxmlformats.org/officeDocument/2006/relationships/slide" Target="slides/slide7.xml" /><ns0:Relationship Id="rId15" Type="http://schemas.openxmlformats.org/officeDocument/2006/relationships/slide" Target="slides/slide8.xml" /><ns0:Relationship Id="rId16" Type="http://schemas.openxmlformats.org/officeDocument/2006/relationships/slide" Target="slides/slide9.xml" /><ns0:Relationship Id="rId17" Type="http://schemas.openxmlformats.org/officeDocument/2006/relationships/slide" Target="slides/slide10.xml" /><ns0:Relationship Id="rId18" Type="http://schemas.openxmlformats.org/officeDocument/2006/relationships/slide" Target="slides/slide11.xml" /><ns0:Relationship Id="rId19" Type="http://schemas.openxmlformats.org/officeDocument/2006/relationships/slide" Target="slides/slide12.xml" /><ns0:Relationship Id="rId20" Type="http://schemas.openxmlformats.org/officeDocument/2006/relationships/slide" Target="slides/slide13.xml" /><ns0:Relationship Id="rId21" Type="http://schemas.openxmlformats.org/officeDocument/2006/relationships/slide" Target="slides/slide14.xml" /></ns0:Relationships>
</file>

<file path=ppt/slideLayouts/_rels/slideLayout1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2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3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4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5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6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7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8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9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10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11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slideLayout" Target="../slideLayouts/slideLayout2.xml" /><ns0:Relationship Id="rId3" Type="http://schemas.openxmlformats.org/officeDocument/2006/relationships/slideLayout" Target="../slideLayouts/slideLayout3.xml" /><ns0:Relationship Id="rId4" Type="http://schemas.openxmlformats.org/officeDocument/2006/relationships/slideLayout" Target="../slideLayouts/slideLayout4.xml" /><ns0:Relationship Id="rId5" Type="http://schemas.openxmlformats.org/officeDocument/2006/relationships/slideLayout" Target="../slideLayouts/slideLayout5.xml" /><ns0:Relationship Id="rId6" Type="http://schemas.openxmlformats.org/officeDocument/2006/relationships/slideLayout" Target="../slideLayouts/slideLayout6.xml" /><ns0:Relationship Id="rId7" Type="http://schemas.openxmlformats.org/officeDocument/2006/relationships/slideLayout" Target="../slideLayouts/slideLayout7.xml" /><ns0:Relationship Id="rId8" Type="http://schemas.openxmlformats.org/officeDocument/2006/relationships/slideLayout" Target="../slideLayouts/slideLayout8.xml" /><ns0:Relationship Id="rId9" Type="http://schemas.openxmlformats.org/officeDocument/2006/relationships/slideLayout" Target="../slideLayouts/slideLayout9.xml" /><ns0:Relationship Id="rId10" Type="http://schemas.openxmlformats.org/officeDocument/2006/relationships/slideLayout" Target="../slideLayouts/slideLayout10.xml" /><ns0:Relationship Id="rId11" Type="http://schemas.openxmlformats.org/officeDocument/2006/relationships/slideLayout" Target="../slideLayouts/slideLayout11.xml" /><ns0:Relationship Id="rId12" Type="http://schemas.openxmlformats.org/officeDocument/2006/relationships/theme" Target="../theme/theme1.xml" /></ns0: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2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3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4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5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6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ns0:Relationship Id="rId2" Type="http://schemas.openxmlformats.org/officeDocument/2006/relationships/image" Target="../media/image1.png" /><ns0:Relationship Id="rId3" Type="http://schemas.openxmlformats.org/officeDocument/2006/relationships/image" Target="../media/image2.png" /></ns0:Relationships>
</file>

<file path=ppt/slides/_rels/slide7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8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9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10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1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12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13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14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6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Aptos Display"/>
              </a:rPr>
              <a:t>Primul meu cod a fost pe hartie.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819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CDD6E1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74519"/>
            <a:ext cx="4892040" cy="3611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2606040"/>
            <a:ext cx="4297680" cy="10972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60120" y="3172968"/>
            <a:ext cx="4297680" cy="10972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0120" y="3739896"/>
            <a:ext cx="4297680" cy="10972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0120" y="4306824"/>
            <a:ext cx="4297680" cy="10972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60120" y="4873752"/>
            <a:ext cx="4297680" cy="10972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157984"/>
            <a:ext cx="4297680" cy="25603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0">
                <a:solidFill>
                  <a:srgbClr val="244BDD"/>
                </a:solidFill>
                <a:latin typeface="Consolas"/>
              </a:rPr>
              <a:t>10 PRINT "SALUT!"</a:t>
            </a:r>
          </a:p>
          <a:p>
            <a:pPr>
              <a:spcAft>
                <a:spcPts val="800"/>
              </a:spcAft>
            </a:pPr>
            <a:r>
              <a:rPr sz="2600" b="0">
                <a:solidFill>
                  <a:srgbClr val="244BDD"/>
                </a:solidFill>
                <a:latin typeface="Consolas"/>
              </a:rPr>
              <a:t>20 GOTO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5010912"/>
            <a:ext cx="4297680" cy="3200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526176"/>
                </a:solidFill>
                <a:latin typeface="Aptos"/>
              </a:rPr>
              <a:t>Exemplu BASIC ilustrativ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240280"/>
            <a:ext cx="2286000" cy="98755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Aptos"/>
              </a:rPr>
              <a:t>Scriam.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240280"/>
            <a:ext cx="2286000" cy="98755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Aptos"/>
              </a:rPr>
              <a:t>Prietenul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Aptos"/>
              </a:rPr>
              <a:t>incerca.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4453128"/>
            <a:ext cx="2286000" cy="98755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6EC79"/>
                </a:solidFill>
                <a:latin typeface="Aptos"/>
              </a:rPr>
              <a:t>Notite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D6EC79"/>
                </a:solidFill>
                <a:latin typeface="Aptos"/>
              </a:rPr>
              <a:t>a doua zi.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453128"/>
            <a:ext cx="2286000" cy="98755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6EC79"/>
                </a:solidFill>
                <a:latin typeface="Aptos"/>
              </a:rPr>
              <a:t>Corectam.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09560" y="2589530"/>
            <a:ext cx="740664" cy="33020"/>
          </a:xfrm>
          <a:prstGeom prst="rect">
            <a:avLst/>
          </a:prstGeom>
          <a:solidFill>
            <a:srgbClr val="D6EC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 rot="5400000">
            <a:off x="8567928" y="2523744"/>
            <a:ext cx="164592" cy="164592"/>
          </a:xfrm>
          <a:prstGeom prst="triangle">
            <a:avLst/>
          </a:prstGeom>
          <a:solidFill>
            <a:srgbClr val="D6EC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813290" y="3337560"/>
            <a:ext cx="33020" cy="841248"/>
          </a:xfrm>
          <a:prstGeom prst="rect">
            <a:avLst/>
          </a:prstGeom>
          <a:solidFill>
            <a:srgbClr val="D6EC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Isosceles Triangle 20"/>
          <p:cNvSpPr/>
          <p:nvPr/>
        </p:nvSpPr>
        <p:spPr>
          <a:xfrm rot="10800000">
            <a:off x="9747504" y="4096512"/>
            <a:ext cx="164592" cy="164592"/>
          </a:xfrm>
          <a:prstGeom prst="triangle">
            <a:avLst/>
          </a:prstGeom>
          <a:solidFill>
            <a:srgbClr val="D6EC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92440" y="4811522"/>
            <a:ext cx="502920" cy="33020"/>
          </a:xfrm>
          <a:prstGeom prst="rect">
            <a:avLst/>
          </a:prstGeom>
          <a:solidFill>
            <a:srgbClr val="D6EC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sosceles Triangle 22"/>
          <p:cNvSpPr/>
          <p:nvPr/>
        </p:nvSpPr>
        <p:spPr>
          <a:xfrm rot="16200000">
            <a:off x="8010144" y="4745736"/>
            <a:ext cx="164592" cy="164592"/>
          </a:xfrm>
          <a:prstGeom prst="triangle">
            <a:avLst/>
          </a:prstGeom>
          <a:solidFill>
            <a:srgbClr val="D6EC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96938" y="3328416"/>
            <a:ext cx="33020" cy="832103"/>
          </a:xfrm>
          <a:prstGeom prst="rect">
            <a:avLst/>
          </a:prstGeom>
          <a:solidFill>
            <a:srgbClr val="D6EC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Isosceles Triangle 24"/>
          <p:cNvSpPr/>
          <p:nvPr/>
        </p:nvSpPr>
        <p:spPr>
          <a:xfrm>
            <a:off x="6931152" y="3246120"/>
            <a:ext cx="164592" cy="164592"/>
          </a:xfrm>
          <a:prstGeom prst="triangle">
            <a:avLst/>
          </a:prstGeom>
          <a:solidFill>
            <a:srgbClr val="D6EC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806440"/>
            <a:ext cx="10881360" cy="356616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FFFFFF"/>
                </a:solidFill>
                <a:latin typeface="Aptos"/>
              </a:rPr>
              <a:t>Un fel de remote debugging. Cu raspuns a doua zi.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182636"/>
                </a:solidFill>
                <a:latin typeface="Aptos Display"/>
              </a:rPr>
              <a:t>Voi de unde porniti?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C7C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526176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526176"/>
                </a:solidFill>
                <a:latin typeface="Aptos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20240"/>
            <a:ext cx="566928" cy="566928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965960"/>
            <a:ext cx="320040" cy="4572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FFFFFF"/>
                </a:solidFill>
                <a:latin typeface="Aptos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975104"/>
            <a:ext cx="9875520" cy="5486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700" b="0">
                <a:solidFill>
                  <a:srgbClr val="182636"/>
                </a:solidFill>
                <a:latin typeface="Aptos"/>
              </a:rPr>
              <a:t>Am cerut explicatii.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779776"/>
            <a:ext cx="566928" cy="566928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825496"/>
            <a:ext cx="320040" cy="4572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FFFFFF"/>
                </a:solidFill>
                <a:latin typeface="Aptos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834640"/>
            <a:ext cx="9875520" cy="5486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700" b="0">
                <a:solidFill>
                  <a:srgbClr val="182636"/>
                </a:solidFill>
                <a:latin typeface="Aptos"/>
              </a:rPr>
              <a:t>Am creat texte, imagini sau muzica.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639312"/>
            <a:ext cx="566928" cy="566928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685032"/>
            <a:ext cx="320040" cy="4572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FFFFFF"/>
                </a:solidFill>
                <a:latin typeface="Aptos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694176"/>
            <a:ext cx="9875520" cy="5486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700" b="0">
                <a:solidFill>
                  <a:srgbClr val="182636"/>
                </a:solidFill>
                <a:latin typeface="Aptos"/>
              </a:rPr>
              <a:t>Am incercat sa construiesc ceva.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498848"/>
            <a:ext cx="566928" cy="566928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4544568"/>
            <a:ext cx="320040" cy="4572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FFFFFF"/>
                </a:solidFill>
                <a:latin typeface="Aptos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553712"/>
            <a:ext cx="9875520" cy="5486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700" b="0">
                <a:solidFill>
                  <a:srgbClr val="182636"/>
                </a:solidFill>
                <a:latin typeface="Aptos"/>
              </a:rPr>
              <a:t>Doar am testat. Sau inca nu.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696712"/>
            <a:ext cx="10698480" cy="4297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244BDD"/>
                </a:solidFill>
                <a:latin typeface="Aptos"/>
              </a:rPr>
              <a:t>Un vot sau o litera in chat. Nu trebuie sa fi folosit deja AI.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182636"/>
                </a:solidFill>
                <a:latin typeface="Aptos Display"/>
              </a:rPr>
              <a:t>Mai intai, o masina invata un drum.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C7C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526176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526176"/>
                </a:solidFill>
                <a:latin typeface="Aptos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0512"/>
            <a:ext cx="4535424" cy="44074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05788" y="2807208"/>
            <a:ext cx="25400" cy="658367"/>
          </a:xfrm>
          <a:prstGeom prst="rect">
            <a:avLst/>
          </a:prstGeom>
          <a:solidFill>
            <a:srgbClr val="526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05788" y="3465576"/>
            <a:ext cx="25400" cy="658367"/>
          </a:xfrm>
          <a:prstGeom prst="rect">
            <a:avLst/>
          </a:prstGeom>
          <a:solidFill>
            <a:srgbClr val="526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05788" y="4123944"/>
            <a:ext cx="25400" cy="658368"/>
          </a:xfrm>
          <a:prstGeom prst="rect">
            <a:avLst/>
          </a:prstGeom>
          <a:solidFill>
            <a:srgbClr val="526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64156" y="4123944"/>
            <a:ext cx="25400" cy="658368"/>
          </a:xfrm>
          <a:prstGeom prst="rect">
            <a:avLst/>
          </a:prstGeom>
          <a:solidFill>
            <a:srgbClr val="526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922524" y="4123944"/>
            <a:ext cx="25400" cy="658368"/>
          </a:xfrm>
          <a:prstGeom prst="rect">
            <a:avLst/>
          </a:prstGeom>
          <a:solidFill>
            <a:srgbClr val="526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80892" y="4123944"/>
            <a:ext cx="25400" cy="658368"/>
          </a:xfrm>
          <a:prstGeom prst="rect">
            <a:avLst/>
          </a:prstGeom>
          <a:solidFill>
            <a:srgbClr val="526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05788" y="4782312"/>
            <a:ext cx="25400" cy="658367"/>
          </a:xfrm>
          <a:prstGeom prst="rect">
            <a:avLst/>
          </a:prstGeom>
          <a:solidFill>
            <a:srgbClr val="526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22524" y="4782312"/>
            <a:ext cx="25400" cy="658367"/>
          </a:xfrm>
          <a:prstGeom prst="rect">
            <a:avLst/>
          </a:prstGeom>
          <a:solidFill>
            <a:srgbClr val="526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76856" y="2794508"/>
            <a:ext cx="658367" cy="25400"/>
          </a:xfrm>
          <a:prstGeom prst="rect">
            <a:avLst/>
          </a:prstGeom>
          <a:solidFill>
            <a:srgbClr val="526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35224" y="2794508"/>
            <a:ext cx="658367" cy="25400"/>
          </a:xfrm>
          <a:prstGeom prst="rect">
            <a:avLst/>
          </a:prstGeom>
          <a:solidFill>
            <a:srgbClr val="526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76856" y="3452876"/>
            <a:ext cx="658367" cy="25400"/>
          </a:xfrm>
          <a:prstGeom prst="rect">
            <a:avLst/>
          </a:prstGeom>
          <a:solidFill>
            <a:srgbClr val="526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35224" y="3452876"/>
            <a:ext cx="658367" cy="25400"/>
          </a:xfrm>
          <a:prstGeom prst="rect">
            <a:avLst/>
          </a:prstGeom>
          <a:solidFill>
            <a:srgbClr val="526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593591" y="3452876"/>
            <a:ext cx="658367" cy="25400"/>
          </a:xfrm>
          <a:prstGeom prst="rect">
            <a:avLst/>
          </a:prstGeom>
          <a:solidFill>
            <a:srgbClr val="526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76856" y="4111243"/>
            <a:ext cx="658367" cy="25400"/>
          </a:xfrm>
          <a:prstGeom prst="rect">
            <a:avLst/>
          </a:prstGeom>
          <a:solidFill>
            <a:srgbClr val="526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93591" y="4769612"/>
            <a:ext cx="658367" cy="25400"/>
          </a:xfrm>
          <a:prstGeom prst="rect">
            <a:avLst/>
          </a:prstGeom>
          <a:solidFill>
            <a:srgbClr val="526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0120" y="2132965"/>
            <a:ext cx="3291839" cy="31750"/>
          </a:xfrm>
          <a:prstGeom prst="rect">
            <a:avLst/>
          </a:prstGeom>
          <a:solidFill>
            <a:srgbClr val="18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36085" y="2148840"/>
            <a:ext cx="31750" cy="3291839"/>
          </a:xfrm>
          <a:prstGeom prst="rect">
            <a:avLst/>
          </a:prstGeom>
          <a:solidFill>
            <a:srgbClr val="18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0120" y="5424805"/>
            <a:ext cx="3291839" cy="31750"/>
          </a:xfrm>
          <a:prstGeom prst="rect">
            <a:avLst/>
          </a:prstGeom>
          <a:solidFill>
            <a:srgbClr val="18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4245" y="2148840"/>
            <a:ext cx="31750" cy="3291839"/>
          </a:xfrm>
          <a:prstGeom prst="rect">
            <a:avLst/>
          </a:prstGeom>
          <a:solidFill>
            <a:srgbClr val="18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289304" y="2433574"/>
            <a:ext cx="658367" cy="88900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903221" y="2478024"/>
            <a:ext cx="88900" cy="658368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903221" y="3136392"/>
            <a:ext cx="88900" cy="658368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947672" y="3750310"/>
            <a:ext cx="658367" cy="88900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606039" y="3750310"/>
            <a:ext cx="658368" cy="88900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19958" y="3794760"/>
            <a:ext cx="88900" cy="658367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219958" y="4453128"/>
            <a:ext cx="88900" cy="658367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64408" y="5067046"/>
            <a:ext cx="658367" cy="88900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93292" y="2382012"/>
            <a:ext cx="192024" cy="192024"/>
          </a:xfrm>
          <a:prstGeom prst="ellipse">
            <a:avLst/>
          </a:prstGeom>
          <a:solidFill>
            <a:srgbClr val="18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813048" y="5001768"/>
            <a:ext cx="219456" cy="219456"/>
          </a:xfrm>
          <a:prstGeom prst="ellipse">
            <a:avLst/>
          </a:prstGeom>
          <a:solidFill>
            <a:srgbClr val="18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1856231"/>
            <a:ext cx="1645920" cy="24688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44BDD"/>
                </a:solidFill>
                <a:latin typeface="Aptos"/>
              </a:rPr>
              <a:t>START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80" y="5486400"/>
            <a:ext cx="1371600" cy="3200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44BDD"/>
                </a:solidFill>
                <a:latin typeface="Aptos"/>
              </a:rPr>
              <a:t>IESIRE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852160"/>
            <a:ext cx="3931920" cy="2743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526176"/>
                </a:solidFill>
                <a:latin typeface="Aptos"/>
              </a:rPr>
              <a:t>Schema ilustrativa: Theseus, 1950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1874519"/>
            <a:ext cx="1005840" cy="5029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244BDD"/>
                </a:solidFill>
                <a:latin typeface="Aptos"/>
              </a:rPr>
              <a:t>1950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0528" y="1874519"/>
            <a:ext cx="4892040" cy="5029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182636"/>
                </a:solidFill>
                <a:latin typeface="Aptos"/>
              </a:rPr>
              <a:t>Theseus gaseste iesirea.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10528" y="2441448"/>
            <a:ext cx="4892040" cy="62179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100" b="0">
                <a:solidFill>
                  <a:srgbClr val="182636"/>
                </a:solidFill>
                <a:latin typeface="Aptos"/>
              </a:rPr>
              <a:t>Claude Shannon: un labirint si memorie in relee.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0" y="3182111"/>
            <a:ext cx="1005840" cy="5029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244BDD"/>
                </a:solidFill>
                <a:latin typeface="Aptos"/>
              </a:rPr>
              <a:t>1966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10528" y="3182111"/>
            <a:ext cx="4892040" cy="5029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182636"/>
                </a:solidFill>
                <a:latin typeface="Aptos"/>
              </a:rPr>
              <a:t>ELIZA sustine o conversatie.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10528" y="3749039"/>
            <a:ext cx="4892040" cy="62179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100" b="0">
                <a:solidFill>
                  <a:srgbClr val="182636"/>
                </a:solidFill>
                <a:latin typeface="Aptos"/>
              </a:rPr>
              <a:t>Joseph Weizenbaum: reguli si tipare de limbaj.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0" y="4489704"/>
            <a:ext cx="1005840" cy="5029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244BDD"/>
                </a:solidFill>
                <a:latin typeface="Aptos"/>
              </a:rPr>
              <a:t>2022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10528" y="4489704"/>
            <a:ext cx="4892040" cy="5029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182636"/>
                </a:solidFill>
                <a:latin typeface="Aptos"/>
              </a:rPr>
              <a:t>ChatGPT ajunge la public.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0528" y="5056632"/>
            <a:ext cx="4892040" cy="62179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100" b="0">
                <a:solidFill>
                  <a:srgbClr val="182636"/>
                </a:solidFill>
                <a:latin typeface="Aptos"/>
              </a:rPr>
              <a:t>O interfata simpla face experimentarea accesibila.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182636"/>
                </a:solidFill>
                <a:latin typeface="Aptos Display"/>
              </a:rPr>
              <a:t>La biblioteca am deschis...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C7C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526176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526176"/>
                </a:solidFill>
                <a:latin typeface="Aptos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40280"/>
            <a:ext cx="3200400" cy="5486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500" b="1">
                <a:solidFill>
                  <a:srgbClr val="244BDD"/>
                </a:solidFill>
                <a:latin typeface="Aptos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063240"/>
            <a:ext cx="3200400" cy="7772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182636"/>
                </a:solidFill>
                <a:latin typeface="Aptos"/>
              </a:rPr>
              <a:t>o carte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2240280"/>
            <a:ext cx="3200400" cy="5486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500" b="1">
                <a:solidFill>
                  <a:srgbClr val="244BDD"/>
                </a:solidFill>
                <a:latin typeface="Aptos"/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3063240"/>
            <a:ext cx="3200400" cy="7772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182636"/>
                </a:solidFill>
                <a:latin typeface="Aptos"/>
              </a:rPr>
              <a:t>un laptop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2240280"/>
            <a:ext cx="3200400" cy="5486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500" b="1">
                <a:solidFill>
                  <a:srgbClr val="244BDD"/>
                </a:solidFill>
                <a:latin typeface="Aptos"/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3063240"/>
            <a:ext cx="3200400" cy="7772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182636"/>
                </a:solidFill>
                <a:latin typeface="Aptos"/>
              </a:rPr>
              <a:t>o umbrela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206240"/>
            <a:ext cx="10881360" cy="22860"/>
          </a:xfrm>
          <a:prstGeom prst="rect">
            <a:avLst/>
          </a:prstGeom>
          <a:solidFill>
            <a:srgbClr val="C7C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690872"/>
            <a:ext cx="10607040" cy="94183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244BDD"/>
                </a:solidFill>
                <a:latin typeface="Aptos"/>
              </a:rPr>
              <a:t>Contextul schimba ce continuare ni se pare plauzibila.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182636"/>
                </a:solidFill>
                <a:latin typeface="Aptos Display"/>
              </a:rPr>
              <a:t>Un fragment. Apoi inca unul.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C7C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526176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526176"/>
                </a:solidFill>
                <a:latin typeface="Aptos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3017520" cy="1627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22576"/>
            <a:ext cx="2743200" cy="64008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244BDD"/>
                </a:solidFill>
                <a:latin typeface="Aptos"/>
              </a:rPr>
              <a:t>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44952"/>
            <a:ext cx="2743200" cy="5943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182636"/>
                </a:solidFill>
                <a:latin typeface="Aptos"/>
              </a:rPr>
              <a:t>"La biblioteca am..."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2103120"/>
            <a:ext cx="3017520" cy="1627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2322576"/>
            <a:ext cx="2743200" cy="64008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244BDD"/>
                </a:solidFill>
                <a:latin typeface="Aptos"/>
              </a:rPr>
              <a:t>Continuari posibile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3044952"/>
            <a:ext cx="2743200" cy="5943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182636"/>
                </a:solidFill>
                <a:latin typeface="Aptos"/>
              </a:rPr>
              <a:t>Modelul evalueaza variante.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0" y="2103120"/>
            <a:ext cx="3017520" cy="1627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2322576"/>
            <a:ext cx="2743200" cy="64008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244BDD"/>
                </a:solidFill>
                <a:latin typeface="Aptos"/>
              </a:rPr>
              <a:t>Token nou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3044952"/>
            <a:ext cx="2743200" cy="5943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182636"/>
                </a:solidFill>
                <a:latin typeface="Aptos"/>
              </a:rPr>
              <a:t>"deschis"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58768" y="2835148"/>
            <a:ext cx="548640" cy="35560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 rot="5400000">
            <a:off x="4325112" y="2770632"/>
            <a:ext cx="164592" cy="164592"/>
          </a:xfrm>
          <a:prstGeom prst="triangle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99248" y="2835148"/>
            <a:ext cx="548639" cy="35560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sosceles Triangle 17"/>
          <p:cNvSpPr/>
          <p:nvPr/>
        </p:nvSpPr>
        <p:spPr>
          <a:xfrm rot="5400000">
            <a:off x="8165592" y="2770632"/>
            <a:ext cx="164592" cy="164592"/>
          </a:xfrm>
          <a:prstGeom prst="triangle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903460" y="3822191"/>
            <a:ext cx="35560" cy="612647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80960" y="4417059"/>
            <a:ext cx="2240279" cy="35560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Isosceles Triangle 20"/>
          <p:cNvSpPr/>
          <p:nvPr/>
        </p:nvSpPr>
        <p:spPr>
          <a:xfrm rot="16200000">
            <a:off x="7598664" y="4352544"/>
            <a:ext cx="164592" cy="164592"/>
          </a:xfrm>
          <a:prstGeom prst="triangle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94760" y="3913632"/>
            <a:ext cx="3767328" cy="1261872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59352" y="4050791"/>
            <a:ext cx="3438144" cy="39319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FFFFFF"/>
                </a:solidFill>
                <a:latin typeface="Aptos"/>
              </a:rPr>
              <a:t>Context actualizat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59352" y="4581144"/>
            <a:ext cx="3438144" cy="41148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FFFFFF"/>
                </a:solidFill>
                <a:latin typeface="Aptos"/>
              </a:rPr>
              <a:t>"La biblioteca am deschis..."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40280" y="4417059"/>
            <a:ext cx="1435607" cy="35560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22500" y="3822191"/>
            <a:ext cx="35560" cy="612647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Isosceles Triangle 26"/>
          <p:cNvSpPr/>
          <p:nvPr/>
        </p:nvSpPr>
        <p:spPr>
          <a:xfrm>
            <a:off x="2157984" y="3739896"/>
            <a:ext cx="164592" cy="164592"/>
          </a:xfrm>
          <a:prstGeom prst="triangle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687568"/>
            <a:ext cx="10515600" cy="41148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182636"/>
                </a:solidFill>
                <a:latin typeface="Aptos"/>
              </a:rPr>
              <a:t>Un token este un fragment de text. Procesul se repeta.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182636"/>
                </a:solidFill>
                <a:latin typeface="Aptos Display"/>
              </a:rPr>
              <a:t>O idee poate deveni o pagina.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C7C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526176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526176"/>
                </a:solidFill>
                <a:latin typeface="Aptos"/>
              </a:rPr>
              <a:t>6</a:t>
            </a:r>
          </a:p>
        </p:txBody>
      </p:sp>
      <p:pic>
        <p:nvPicPr>
          <p:cNvPr id="6" name="Picture 5" descr="Captura decupata a paginii pregatite Atelier de idei, cu titlul si ilustratia; nu este output live din Copilo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911" y="1801368"/>
            <a:ext cx="6796056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09560" y="2029968"/>
            <a:ext cx="3566160" cy="21214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700" b="1">
                <a:solidFill>
                  <a:srgbClr val="244BDD"/>
                </a:solidFill>
                <a:latin typeface="Aptos"/>
              </a:rPr>
              <a:t>Ce trebuie sa afli</a:t>
            </a:r>
          </a:p>
          <a:p>
            <a:pPr>
              <a:spcAft>
                <a:spcPts val="800"/>
              </a:spcAft>
            </a:pPr>
            <a:r>
              <a:rPr sz="2700" b="1">
                <a:solidFill>
                  <a:srgbClr val="244BDD"/>
                </a:solidFill>
                <a:latin typeface="Aptos"/>
              </a:rPr>
              <a:t>ca sa decizi daca</a:t>
            </a:r>
          </a:p>
          <a:p>
            <a:pPr>
              <a:spcAft>
                <a:spcPts val="800"/>
              </a:spcAft>
            </a:pPr>
            <a:r>
              <a:rPr sz="2700" b="1">
                <a:solidFill>
                  <a:srgbClr val="244BDD"/>
                </a:solidFill>
                <a:latin typeface="Aptos"/>
              </a:rPr>
              <a:t>vrei sa participi?</a:t>
            </a:r>
          </a:p>
        </p:txBody>
      </p:sp>
      <p:pic>
        <p:nvPicPr>
          <p:cNvPr id="8" name="Picture 7" descr="Detalii din acelasi exemplu fictiv, marite: 30 octombrie 2026, 17-19, sala de festivitati, acces gratui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619169"/>
            <a:ext cx="10698480" cy="13046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5989320"/>
            <a:ext cx="10424160" cy="25603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526176"/>
                </a:solidFill>
                <a:latin typeface="Aptos"/>
              </a:rPr>
              <a:t>Capturi ale exemplului pregatit, cu detaliile marite. Eveniment fictiv.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6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Aptos Display"/>
              </a:rPr>
              <a:t>Sa vedem ce intelege dintr-o idee.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819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CDD6E1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Aptos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57400"/>
            <a:ext cx="10424160" cy="14173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FFFFFF"/>
                </a:solidFill>
                <a:latin typeface="Aptos"/>
              </a:rPr>
              <a:t>"Fa o pagina pentru</a:t>
            </a:r>
          </a:p>
          <a:p>
            <a:pPr>
              <a:spcAft>
                <a:spcPts val="800"/>
              </a:spcAft>
            </a:pPr>
            <a:r>
              <a:rPr sz="3800" b="1">
                <a:solidFill>
                  <a:srgbClr val="FFFFFF"/>
                </a:solidFill>
                <a:latin typeface="Aptos"/>
              </a:rPr>
              <a:t>un eveniment la liceu."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986784"/>
            <a:ext cx="10607040" cy="22860"/>
          </a:xfrm>
          <a:prstGeom prst="rect">
            <a:avLst/>
          </a:prstGeom>
          <a:solidFill>
            <a:srgbClr val="819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517136"/>
            <a:ext cx="10378440" cy="66751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6EC79"/>
                </a:solidFill>
                <a:latin typeface="Aptos"/>
              </a:rPr>
              <a:t>Ce a presupus? Ce lipseste? Ce trebuie sa decidem noi?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568696"/>
            <a:ext cx="10378440" cy="402336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0">
                <a:solidFill>
                  <a:srgbClr val="FFFFFF"/>
                </a:solidFill>
                <a:latin typeface="Aptos"/>
              </a:rPr>
              <a:t>Idee  &gt;  Cerere  &gt;  Prima versiune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182636"/>
                </a:solidFill>
                <a:latin typeface="Aptos Display"/>
              </a:rPr>
              <a:t>Mai intai, ne corectam intrebarea.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C7C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526176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526176"/>
                </a:solidFill>
                <a:latin typeface="Aptos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56231"/>
            <a:ext cx="3794760" cy="15727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244BDD"/>
                </a:solidFill>
                <a:latin typeface="Aptos"/>
              </a:rPr>
              <a:t>Scopul.</a:t>
            </a:r>
          </a:p>
          <a:p>
            <a:pPr>
              <a:spcAft>
                <a:spcPts val="800"/>
              </a:spcAft>
            </a:pPr>
            <a:r>
              <a:rPr sz="3000" b="1">
                <a:solidFill>
                  <a:srgbClr val="244BDD"/>
                </a:solidFill>
                <a:latin typeface="Aptos"/>
              </a:rPr>
              <a:t>Contextul.</a:t>
            </a:r>
          </a:p>
          <a:p>
            <a:pPr>
              <a:spcAft>
                <a:spcPts val="800"/>
              </a:spcAft>
            </a:pPr>
            <a:r>
              <a:rPr sz="3000" b="1">
                <a:solidFill>
                  <a:srgbClr val="244BDD"/>
                </a:solidFill>
                <a:latin typeface="Aptos"/>
              </a:rPr>
              <a:t>Presupunerile.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77056"/>
            <a:ext cx="3794760" cy="151790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0">
                <a:solidFill>
                  <a:srgbClr val="182636"/>
                </a:solidFill>
                <a:latin typeface="Aptos"/>
              </a:rPr>
              <a:t>O cerere mai clara</a:t>
            </a:r>
          </a:p>
          <a:p>
            <a:pPr>
              <a:spcAft>
                <a:spcPts val="800"/>
              </a:spcAft>
            </a:pPr>
            <a:r>
              <a:rPr sz="2600" b="0">
                <a:solidFill>
                  <a:srgbClr val="182636"/>
                </a:solidFill>
                <a:latin typeface="Aptos"/>
              </a:rPr>
              <a:t>ne ajuta sa evaluam</a:t>
            </a:r>
          </a:p>
          <a:p>
            <a:pPr>
              <a:spcAft>
                <a:spcPts val="800"/>
              </a:spcAft>
            </a:pPr>
            <a:r>
              <a:rPr sz="2600" b="0">
                <a:solidFill>
                  <a:srgbClr val="182636"/>
                </a:solidFill>
                <a:latin typeface="Aptos"/>
              </a:rPr>
              <a:t>ce primim.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82312" y="1856231"/>
            <a:ext cx="6720840" cy="40416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2130552"/>
            <a:ext cx="6172200" cy="33375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0">
                <a:solidFill>
                  <a:srgbClr val="182636"/>
                </a:solidFill>
                <a:latin typeface="Aptos"/>
              </a:rPr>
              <a:t>Atelier de idei. Pentru liceeni.</a:t>
            </a:r>
          </a:p>
          <a:p>
            <a:pPr>
              <a:spcAft>
                <a:spcPts val="800"/>
              </a:spcAft>
            </a:pPr>
            <a:r>
              <a:rPr sz="2500" b="0">
                <a:solidFill>
                  <a:srgbClr val="182636"/>
                </a:solidFill>
                <a:latin typeface="Aptos"/>
              </a:rPr>
              <a:t>30 octombrie, 17:00-19:00.</a:t>
            </a:r>
          </a:p>
          <a:p>
            <a:pPr>
              <a:spcAft>
                <a:spcPts val="800"/>
              </a:spcAft>
            </a:pPr>
            <a:r>
              <a:rPr sz="2500" b="0">
                <a:solidFill>
                  <a:srgbClr val="182636"/>
                </a:solidFill>
                <a:latin typeface="Aptos"/>
              </a:rPr>
              <a:t>Sala de festivitati. Acces gratuit.</a:t>
            </a:r>
          </a:p>
          <a:p>
            <a:pPr>
              <a:spcAft>
                <a:spcPts val="800"/>
              </a:spcAft>
            </a:pPr>
            <a:r>
              <a:rPr sz="2500" b="0">
                <a:solidFill>
                  <a:srgbClr val="182636"/>
                </a:solidFill>
                <a:latin typeface="Aptos"/>
              </a:rPr>
              <a:t>Trei activitati, fara conturi.</a:t>
            </a:r>
          </a:p>
          <a:p>
            <a:pPr>
              <a:spcAft>
                <a:spcPts val="800"/>
              </a:spcAft>
            </a:pPr>
            <a:r>
              <a:rPr sz="2500" b="0">
                <a:solidFill>
                  <a:srgbClr val="182636"/>
                </a:solidFill>
                <a:latin typeface="Aptos"/>
              </a:rPr>
              <a:t>Sa functioneze si pe telefon.</a:t>
            </a:r>
          </a:p>
          <a:p>
            <a:pPr>
              <a:spcAft>
                <a:spcPts val="800"/>
              </a:spcAft>
            </a:pPr>
            <a:r>
              <a:rPr sz="2500" b="0">
                <a:solidFill>
                  <a:srgbClr val="182636"/>
                </a:solidFill>
                <a:latin typeface="Aptos"/>
              </a:rPr>
              <a:t>Toate datele sunt fictive.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6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Aptos Display"/>
              </a:rPr>
              <a:t>Arata bine. Dar ne putem baza pe ea?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819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CDD6E1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Aptos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57400"/>
            <a:ext cx="3657600" cy="7315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D6EC79"/>
                </a:solidFill>
                <a:latin typeface="Aptos"/>
              </a:rPr>
              <a:t>Respecta cererea?</a:t>
            </a:r>
          </a:p>
        </p:txBody>
      </p:sp>
      <p:sp>
        <p:nvSpPr>
          <p:cNvPr id="7" name="Rectangle 6"/>
          <p:cNvSpPr/>
          <p:nvPr/>
        </p:nvSpPr>
        <p:spPr>
          <a:xfrm>
            <a:off x="4709160" y="1901952"/>
            <a:ext cx="2487168" cy="1060704"/>
          </a:xfrm>
          <a:prstGeom prst="rect">
            <a:avLst/>
          </a:prstGeom>
          <a:solidFill>
            <a:srgbClr val="263B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2139696"/>
            <a:ext cx="2212848" cy="5943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FFFFFF"/>
                </a:solidFill>
                <a:latin typeface="Aptos"/>
              </a:rPr>
              <a:t>Cererea</a:t>
            </a:r>
          </a:p>
        </p:txBody>
      </p:sp>
      <p:sp>
        <p:nvSpPr>
          <p:cNvPr id="9" name="Rectangle 8"/>
          <p:cNvSpPr/>
          <p:nvPr/>
        </p:nvSpPr>
        <p:spPr>
          <a:xfrm>
            <a:off x="7333488" y="2396236"/>
            <a:ext cx="576072" cy="35560"/>
          </a:xfrm>
          <a:prstGeom prst="rect">
            <a:avLst/>
          </a:prstGeom>
          <a:solidFill>
            <a:srgbClr val="D6EC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7827264" y="2331720"/>
            <a:ext cx="164592" cy="164592"/>
          </a:xfrm>
          <a:prstGeom prst="triangle">
            <a:avLst/>
          </a:prstGeom>
          <a:solidFill>
            <a:srgbClr val="D6EC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29016" y="1947672"/>
            <a:ext cx="3200400" cy="94183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400" b="0">
                <a:solidFill>
                  <a:srgbClr val="FFFFFF"/>
                </a:solidFill>
                <a:latin typeface="Aptos"/>
              </a:rPr>
              <a:t>Compara data,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FFFFFF"/>
                </a:solidFill>
                <a:latin typeface="Aptos"/>
              </a:rPr>
              <a:t>ora si locul.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01568"/>
            <a:ext cx="3657600" cy="7315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D6EC79"/>
                </a:solidFill>
                <a:latin typeface="Aptos"/>
              </a:rPr>
              <a:t>Functioneaza?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3246120"/>
            <a:ext cx="2487168" cy="1060704"/>
          </a:xfrm>
          <a:prstGeom prst="rect">
            <a:avLst/>
          </a:prstGeom>
          <a:solidFill>
            <a:srgbClr val="263B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3483863"/>
            <a:ext cx="2212848" cy="5943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FFFFFF"/>
                </a:solidFill>
                <a:latin typeface="Aptos"/>
              </a:rPr>
              <a:t>Pagina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33488" y="3740403"/>
            <a:ext cx="576072" cy="35560"/>
          </a:xfrm>
          <a:prstGeom prst="rect">
            <a:avLst/>
          </a:prstGeom>
          <a:solidFill>
            <a:srgbClr val="D6EC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 rot="5400000">
            <a:off x="7827264" y="3675887"/>
            <a:ext cx="164592" cy="164592"/>
          </a:xfrm>
          <a:prstGeom prst="triangle">
            <a:avLst/>
          </a:prstGeom>
          <a:solidFill>
            <a:srgbClr val="D6EC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29016" y="3291839"/>
            <a:ext cx="3200400" cy="94183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400" b="0">
                <a:solidFill>
                  <a:srgbClr val="FFFFFF"/>
                </a:solidFill>
                <a:latin typeface="Aptos"/>
              </a:rPr>
              <a:t>Testeaza butonul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FFFFFF"/>
                </a:solidFill>
                <a:latin typeface="Aptos"/>
              </a:rPr>
              <a:t>si afisarea pe telefon.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745736"/>
            <a:ext cx="3657600" cy="7315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D6EC79"/>
                </a:solidFill>
                <a:latin typeface="Aptos"/>
              </a:rPr>
              <a:t>Este adevarat?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9160" y="4590288"/>
            <a:ext cx="2487168" cy="1060704"/>
          </a:xfrm>
          <a:prstGeom prst="rect">
            <a:avLst/>
          </a:prstGeom>
          <a:solidFill>
            <a:srgbClr val="263B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4828031"/>
            <a:ext cx="2212848" cy="5943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FFFFFF"/>
                </a:solidFill>
                <a:latin typeface="Aptos"/>
              </a:rPr>
              <a:t>Eveniment real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33488" y="5084572"/>
            <a:ext cx="576072" cy="35560"/>
          </a:xfrm>
          <a:prstGeom prst="rect">
            <a:avLst/>
          </a:prstGeom>
          <a:solidFill>
            <a:srgbClr val="D6EC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Isosceles Triangle 21"/>
          <p:cNvSpPr/>
          <p:nvPr/>
        </p:nvSpPr>
        <p:spPr>
          <a:xfrm rot="5400000">
            <a:off x="7827264" y="5020056"/>
            <a:ext cx="164592" cy="164592"/>
          </a:xfrm>
          <a:prstGeom prst="triangle">
            <a:avLst/>
          </a:prstGeom>
          <a:solidFill>
            <a:srgbClr val="D6EC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9016" y="4636007"/>
            <a:ext cx="3200400" cy="94183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400" b="0">
                <a:solidFill>
                  <a:srgbClr val="FFFFFF"/>
                </a:solidFill>
                <a:latin typeface="Aptos"/>
              </a:rPr>
              <a:t>Confirma cu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FFFFFF"/>
                </a:solidFill>
                <a:latin typeface="Aptos"/>
              </a:rPr>
              <a:t>organizatorul.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182636"/>
                </a:solidFill>
                <a:latin typeface="Aptos Display"/>
              </a:rPr>
              <a:t>Cinci obiceiuri care raman la tine.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C7C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526176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526176"/>
                </a:solidFill>
                <a:latin typeface="Aptos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10512"/>
            <a:ext cx="5029200" cy="521207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244BDD"/>
                </a:solidFill>
                <a:latin typeface="Aptos"/>
              </a:rPr>
              <a:t>Protejeaza-ti datele.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79008" y="1810512"/>
            <a:ext cx="5669280" cy="61264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182636"/>
                </a:solidFill>
                <a:latin typeface="Aptos"/>
              </a:rPr>
              <a:t>Fara parole, acte sau date despre colegi.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06040"/>
            <a:ext cx="5029200" cy="521207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244BDD"/>
                </a:solidFill>
                <a:latin typeface="Aptos"/>
              </a:rPr>
              <a:t>Verifica ce conteaza.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79008" y="2606040"/>
            <a:ext cx="5669280" cy="61264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182636"/>
                </a:solidFill>
                <a:latin typeface="Aptos"/>
              </a:rPr>
              <a:t>Alege sursa, calculul sau testul potrivit.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01568"/>
            <a:ext cx="5029200" cy="521207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244BDD"/>
                </a:solidFill>
                <a:latin typeface="Aptos"/>
              </a:rPr>
              <a:t>Siguranta nu este adevar.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9008" y="3401568"/>
            <a:ext cx="5669280" cy="61264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182636"/>
                </a:solidFill>
                <a:latin typeface="Aptos"/>
              </a:rPr>
              <a:t>Un ton convingator poate ascunde o eroare.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97096"/>
            <a:ext cx="5029200" cy="521207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244BDD"/>
                </a:solidFill>
                <a:latin typeface="Aptos"/>
              </a:rPr>
              <a:t>Spune unde te-a ajutat AI.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79008" y="4197096"/>
            <a:ext cx="5669280" cy="61264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182636"/>
                </a:solidFill>
                <a:latin typeface="Aptos"/>
              </a:rPr>
              <a:t>Respecta regulile scolii si contributia altora.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992624"/>
            <a:ext cx="5029200" cy="521207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244BDD"/>
                </a:solidFill>
                <a:latin typeface="Aptos"/>
              </a:rPr>
              <a:t>Pastreaza decizia la tine.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79008" y="4992624"/>
            <a:ext cx="5669280" cy="61264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182636"/>
                </a:solidFill>
                <a:latin typeface="Aptos"/>
              </a:rPr>
              <a:t>Intelege rezultatul inainte sa il folosesti.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182636"/>
                </a:solidFill>
                <a:latin typeface="Aptos Display"/>
              </a:rPr>
              <a:t>Tech are mai multe usi de intrare.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C7C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526176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526176"/>
                </a:solidFill>
                <a:latin typeface="Aptos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56231"/>
            <a:ext cx="5257800" cy="3657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526176"/>
                </a:solidFill>
                <a:latin typeface="Aptos"/>
              </a:rPr>
              <a:t>Iti place sa construiesti?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5257800" cy="51206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244BDD"/>
                </a:solidFill>
                <a:latin typeface="Aptos"/>
              </a:rPr>
              <a:t>Software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07208"/>
            <a:ext cx="5257800" cy="42062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82636"/>
                </a:solidFill>
                <a:latin typeface="Aptos"/>
              </a:rPr>
              <a:t>Aplicatii si sisteme care functioneaza.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856231"/>
            <a:ext cx="5257800" cy="3657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526176"/>
                </a:solidFill>
                <a:latin typeface="Aptos"/>
              </a:rPr>
              <a:t>Iti place sa investighezi?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286000"/>
            <a:ext cx="5257800" cy="51206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244BDD"/>
                </a:solidFill>
                <a:latin typeface="Aptos"/>
              </a:rPr>
              <a:t>Cybersecurity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807208"/>
            <a:ext cx="5257800" cy="42062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82636"/>
                </a:solidFill>
                <a:latin typeface="Aptos"/>
              </a:rPr>
              <a:t>Cum protejam oameni, date si sisteme.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46120"/>
            <a:ext cx="5257800" cy="3657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526176"/>
                </a:solidFill>
                <a:latin typeface="Aptos"/>
              </a:rPr>
              <a:t>Iti plac tiparele si intrebarile?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75887"/>
            <a:ext cx="5257800" cy="51206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244BDD"/>
                </a:solidFill>
                <a:latin typeface="Aptos"/>
              </a:rPr>
              <a:t>Data /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197096"/>
            <a:ext cx="5257800" cy="42062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82636"/>
                </a:solidFill>
                <a:latin typeface="Aptos"/>
              </a:rPr>
              <a:t>Ce putem afla din date si cum verificam.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246120"/>
            <a:ext cx="5257800" cy="3657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526176"/>
                </a:solidFill>
                <a:latin typeface="Aptos"/>
              </a:rPr>
              <a:t>Iti place sa desenezi si sa observi?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675887"/>
            <a:ext cx="5257800" cy="51206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244BDD"/>
                </a:solidFill>
                <a:latin typeface="Aptos"/>
              </a:rPr>
              <a:t>UX /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197096"/>
            <a:ext cx="5257800" cy="42062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82636"/>
                </a:solidFill>
                <a:latin typeface="Aptos"/>
              </a:rPr>
              <a:t>Cum facem tehnologia usor de folosit.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636008"/>
            <a:ext cx="5257800" cy="3657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526176"/>
                </a:solidFill>
                <a:latin typeface="Aptos"/>
              </a:rPr>
              <a:t>Iti place sa organizezi si sa explici?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065776"/>
            <a:ext cx="5257800" cy="51206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244BDD"/>
                </a:solidFill>
                <a:latin typeface="Aptos"/>
              </a:rPr>
              <a:t>Product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86984"/>
            <a:ext cx="5257800" cy="42062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82636"/>
                </a:solidFill>
                <a:latin typeface="Aptos"/>
              </a:rPr>
              <a:t>Ce problema merita rezolvata si pentru cine.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636008"/>
            <a:ext cx="5257800" cy="3657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526176"/>
                </a:solidFill>
                <a:latin typeface="Aptos"/>
              </a:rPr>
              <a:t>Te preocupa efectele asupra oamenilor?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5065776"/>
            <a:ext cx="5257800" cy="51206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244BDD"/>
                </a:solidFill>
                <a:latin typeface="Aptos"/>
              </a:rPr>
              <a:t>Responsible 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5586984"/>
            <a:ext cx="5257800" cy="42062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82636"/>
                </a:solidFill>
                <a:latin typeface="Aptos"/>
              </a:rPr>
              <a:t>Riscuri, echitate si folosire responsabila.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182636"/>
                </a:solidFill>
                <a:latin typeface="Aptos Display"/>
              </a:rPr>
              <a:t>AI poate propune. Tu alegi ce conteaza.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C7C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526176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526176"/>
                </a:solidFill>
                <a:latin typeface="Aptos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92224"/>
            <a:ext cx="10698480" cy="5943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700" b="1">
                <a:solidFill>
                  <a:srgbClr val="182636"/>
                </a:solidFill>
                <a:latin typeface="Aptos"/>
              </a:rPr>
              <a:t>Un rol concret: decizi cum ar trebui sa functioneze pagina.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743200"/>
            <a:ext cx="3383280" cy="22860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026664"/>
            <a:ext cx="3383280" cy="9601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700" b="1">
                <a:solidFill>
                  <a:srgbClr val="244BDD"/>
                </a:solidFill>
                <a:latin typeface="Aptos"/>
              </a:rPr>
              <a:t>AI poate ajuta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3383280" cy="155448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300" b="0">
                <a:solidFill>
                  <a:srgbClr val="182636"/>
                </a:solidFill>
                <a:latin typeface="Aptos"/>
              </a:rPr>
              <a:t>Variante de text.</a:t>
            </a:r>
          </a:p>
          <a:p>
            <a:pPr>
              <a:spcAft>
                <a:spcPts val="800"/>
              </a:spcAft>
            </a:pPr>
            <a:r>
              <a:rPr sz="2300" b="0">
                <a:solidFill>
                  <a:srgbClr val="182636"/>
                </a:solidFill>
                <a:latin typeface="Aptos"/>
              </a:rPr>
              <a:t>Schite de pagina.</a:t>
            </a:r>
          </a:p>
          <a:p>
            <a:pPr>
              <a:spcAft>
                <a:spcPts val="800"/>
              </a:spcAft>
            </a:pPr>
            <a:r>
              <a:rPr sz="2300" b="0">
                <a:solidFill>
                  <a:srgbClr val="182636"/>
                </a:solidFill>
                <a:latin typeface="Aptos"/>
              </a:rPr>
              <a:t>Idei pentru program.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59" y="2743200"/>
            <a:ext cx="3383280" cy="22860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59" y="3026664"/>
            <a:ext cx="3383280" cy="9601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700" b="1">
                <a:solidFill>
                  <a:srgbClr val="244BDD"/>
                </a:solidFill>
                <a:latin typeface="Aptos"/>
              </a:rPr>
              <a:t>Omul judeca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4114800"/>
            <a:ext cx="3383280" cy="155448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300" b="0">
                <a:solidFill>
                  <a:srgbClr val="182636"/>
                </a:solidFill>
                <a:latin typeface="Aptos"/>
              </a:rPr>
              <a:t>Cui ii este utila?</a:t>
            </a:r>
          </a:p>
          <a:p>
            <a:pPr>
              <a:spcAft>
                <a:spcPts val="800"/>
              </a:spcAft>
            </a:pPr>
            <a:r>
              <a:rPr sz="2300" b="0">
                <a:solidFill>
                  <a:srgbClr val="182636"/>
                </a:solidFill>
                <a:latin typeface="Aptos"/>
              </a:rPr>
              <a:t>Cine ramane pe dinafara?</a:t>
            </a:r>
          </a:p>
          <a:p>
            <a:pPr>
              <a:spcAft>
                <a:spcPts val="800"/>
              </a:spcAft>
            </a:pPr>
            <a:r>
              <a:rPr sz="2300" b="0">
                <a:solidFill>
                  <a:srgbClr val="182636"/>
                </a:solidFill>
                <a:latin typeface="Aptos"/>
              </a:rPr>
              <a:t>Ce putem promite?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743200"/>
            <a:ext cx="3383280" cy="22860"/>
          </a:xfrm>
          <a:prstGeom prst="rect">
            <a:avLst/>
          </a:prstGeom>
          <a:solidFill>
            <a:srgbClr val="244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3026664"/>
            <a:ext cx="3383280" cy="9601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700" b="1">
                <a:solidFill>
                  <a:srgbClr val="244BDD"/>
                </a:solidFill>
                <a:latin typeface="Aptos"/>
              </a:rPr>
              <a:t>Ce ar putea urma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114800"/>
            <a:ext cx="3383280" cy="155448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300" b="0">
                <a:solidFill>
                  <a:srgbClr val="182636"/>
                </a:solidFill>
                <a:latin typeface="Aptos"/>
              </a:rPr>
              <a:t>Mai multi pasi automatizati.</a:t>
            </a:r>
          </a:p>
          <a:p>
            <a:pPr>
              <a:spcAft>
                <a:spcPts val="800"/>
              </a:spcAft>
            </a:pPr>
            <a:r>
              <a:rPr sz="2300" b="0">
                <a:solidFill>
                  <a:srgbClr val="182636"/>
                </a:solidFill>
                <a:latin typeface="Aptos"/>
              </a:rPr>
              <a:t>Mai multa verificare.</a:t>
            </a:r>
          </a:p>
          <a:p>
            <a:pPr>
              <a:spcAft>
                <a:spcPts val="800"/>
              </a:spcAft>
            </a:pPr>
            <a:r>
              <a:rPr sz="2300" b="0">
                <a:solidFill>
                  <a:srgbClr val="182636"/>
                </a:solidFill>
                <a:latin typeface="Aptos"/>
              </a:rPr>
              <a:t>Noi alegeri si responsabilitati.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182636"/>
                </a:solidFill>
                <a:latin typeface="Aptos Display"/>
              </a:rPr>
              <a:t>Nu trebuie sa stii totul ca sa incepi.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C7C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526176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526176"/>
                </a:solidFill>
                <a:latin typeface="Aptos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394960" cy="69494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100" b="1">
                <a:solidFill>
                  <a:srgbClr val="244BDD"/>
                </a:solidFill>
                <a:latin typeface="Aptos"/>
              </a:rPr>
              <a:t>Incearca un proiect mic.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26664"/>
            <a:ext cx="5257800" cy="19202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500" b="0">
                <a:solidFill>
                  <a:srgbClr val="182636"/>
                </a:solidFill>
                <a:latin typeface="Aptos"/>
              </a:rPr>
              <a:t>GitHub Copilot Free</a:t>
            </a:r>
          </a:p>
          <a:p>
            <a:pPr>
              <a:spcAft>
                <a:spcPts val="800"/>
              </a:spcAft>
            </a:pPr>
            <a:r>
              <a:rPr sz="2500" b="0">
                <a:solidFill>
                  <a:srgbClr val="182636"/>
                </a:solidFill>
                <a:latin typeface="Aptos"/>
              </a:rPr>
              <a:t>Acces gratuit, cu limite.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2500" b="0">
                <a:solidFill>
                  <a:srgbClr val="182636"/>
                </a:solidFill>
                <a:latin typeface="Aptos"/>
              </a:rPr>
              <a:t>GitHub Education</a:t>
            </a:r>
          </a:p>
          <a:p>
            <a:pPr>
              <a:spcAft>
                <a:spcPts val="800"/>
              </a:spcAft>
            </a:pPr>
            <a:r>
              <a:rPr sz="2500" b="0">
                <a:solidFill>
                  <a:srgbClr val="182636"/>
                </a:solidFill>
                <a:latin typeface="Aptos"/>
              </a:rPr>
              <a:t>Beneficii pentru elevii eligibili.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011680"/>
            <a:ext cx="4663440" cy="69494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182636"/>
                </a:solidFill>
                <a:latin typeface="Aptos"/>
              </a:rPr>
              <a:t>Sau incepe cu o intrebare.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3026664"/>
            <a:ext cx="4663440" cy="19659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0">
                <a:solidFill>
                  <a:srgbClr val="182636"/>
                </a:solidFill>
                <a:latin typeface="Aptos"/>
              </a:rPr>
              <a:t>Descrie ideea pe hartie.</a:t>
            </a:r>
          </a:p>
          <a:p>
            <a:pPr>
              <a:spcAft>
                <a:spcPts val="800"/>
              </a:spcAft>
            </a:pPr>
            <a:r>
              <a:rPr sz="2600" b="0">
                <a:solidFill>
                  <a:srgbClr val="182636"/>
                </a:solidFill>
                <a:latin typeface="Aptos"/>
              </a:rPr>
              <a:t>Compara doua variante.</a:t>
            </a:r>
          </a:p>
          <a:p>
            <a:pPr>
              <a:spcAft>
                <a:spcPts val="800"/>
              </a:spcAft>
            </a:pPr>
            <a:r>
              <a:rPr sz="2600" b="0">
                <a:solidFill>
                  <a:srgbClr val="182636"/>
                </a:solidFill>
                <a:latin typeface="Aptos"/>
              </a:rPr>
              <a:t>Alege ce ai verifica.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596128"/>
            <a:ext cx="10607040" cy="420624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526176"/>
                </a:solidFill>
                <a:latin typeface="Aptos"/>
              </a:rPr>
              <a:t>github.com/copilot   |   education.github.com/pack   |   3blue1brown.com/lessons/mini-llm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6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12064"/>
            <a:ext cx="10991088" cy="11430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Aptos Display"/>
              </a:rPr>
              <a:t>AI poate mult. Intrebarile raman ale tale.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6364224"/>
            <a:ext cx="10972800" cy="10972"/>
          </a:xfrm>
          <a:prstGeom prst="rect">
            <a:avLst/>
          </a:prstGeom>
          <a:solidFill>
            <a:srgbClr val="8190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058400" cy="20116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CDD6E1"/>
                </a:solidFill>
                <a:latin typeface="Aptos"/>
              </a:rPr>
              <a:t>CARTEA DALIEI  /  CUM A AJUNS AI ATAT DE CAPABIL SI CE POTI FACE TU CU 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6808" y="6419088"/>
            <a:ext cx="54864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Aptos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4663440" cy="61264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900" b="1">
                <a:solidFill>
                  <a:srgbClr val="D6EC79"/>
                </a:solidFill>
                <a:latin typeface="Aptos"/>
              </a:rPr>
              <a:t>Un instrument puternic.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1920240"/>
            <a:ext cx="5577840" cy="7772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0">
                <a:solidFill>
                  <a:srgbClr val="FFFFFF"/>
                </a:solidFill>
                <a:latin typeface="Aptos"/>
              </a:rPr>
              <a:t>Poate ajuta mult. Poate si gresi.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99232"/>
            <a:ext cx="4663440" cy="61264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900" b="1">
                <a:solidFill>
                  <a:srgbClr val="D6EC79"/>
                </a:solidFill>
                <a:latin typeface="Aptos"/>
              </a:rPr>
              <a:t>Tu aduci valoare.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0" y="2999232"/>
            <a:ext cx="5577840" cy="7772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0">
                <a:solidFill>
                  <a:srgbClr val="FFFFFF"/>
                </a:solidFill>
                <a:latin typeface="Aptos"/>
              </a:rPr>
              <a:t>Prin intrebari, alegeri si gandire.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78224"/>
            <a:ext cx="4663440" cy="61264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900" b="1">
                <a:solidFill>
                  <a:srgbClr val="D6EC79"/>
                </a:solidFill>
                <a:latin typeface="Aptos"/>
              </a:rPr>
              <a:t>Poti incepe de acum.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4078224"/>
            <a:ext cx="5577840" cy="7772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0">
                <a:solidFill>
                  <a:srgbClr val="FFFFFF"/>
                </a:solidFill>
                <a:latin typeface="Aptos"/>
              </a:rPr>
              <a:t>Nu trebuie sa stii deja totul.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596128"/>
            <a:ext cx="10424160" cy="47548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Aptos"/>
              </a:rPr>
              <a:t>Ce ai vrea sa creezi? Ce ai verifica prima data?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ns0:Properties xmlns:ns0="http://schemas.openxmlformats.org/officeDocument/2006/extended-properties" xmlns:ns1="http://schemas.openxmlformats.org/officeDocument/2006/docPropsVTypes">
  <ns0:TotalTime>1</ns0:TotalTime>
  <ns0:Words>0</ns0:Words>
  <ns0:Application>Microsoft Macintosh PowerPoint</ns0:Application>
  <ns0:PresentationFormat>On-screen Show (4:3)</ns0:PresentationFormat>
  <ns0:Paragraphs>0</ns0:Paragraphs>
  <ns0:Slides>0</ns0:Slides>
  <ns0:Notes>0</ns0:Notes>
  <ns0:HiddenSlides>0</ns0:HiddenSlides>
  <ns0:MMClips>0</ns0:MMClips>
  <ns0:ScaleCrop>false</ns0:ScaleCrop>
  <ns0:HeadingPairs>
    <ns1:vector size="4" baseType="variant">
      <ns1:variant>
        <ns1:lpstr>Theme</ns1:lpstr>
      </ns1:variant>
      <ns1:variant>
        <ns1:i4>1</ns1:i4>
      </ns1:variant>
      <ns1:variant>
        <ns1:lpstr>Slide Titles</ns1:lpstr>
      </ns1:variant>
      <ns1:variant>
        <ns1:i4>0</ns1:i4>
      </ns1:variant>
    </ns1:vector>
  </ns0:HeadingPairs>
  <ns0:TitlesOfParts>
    <ns1:vector size="1" baseType="lpstr">
      <ns1:lpstr>Office Theme</ns1:lpstr>
    </ns1:vector>
  </ns0:TitlesOfParts>
  <ns0:Manager/>
  <ns0:Company/>
  <ns0:LinksUpToDate>false</ns0:LinksUpToDate>
  <ns0:SharedDoc>false</ns0:SharedDoc>
  <ns0:HyperlinkBase/>
  <ns0:HyperlinksChanged>false</ns0:HyperlinksChanged>
  <ns0:AppVersion>14.0000</ns0:AppVersion>
</ns0: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title>Cum a ajuns AI atat de capabil si ce poti face tu cu el?</dc:title>
  <dc:subject>Cartea Daliei - liceu - versiune pentru review</dc:subject>
  <ns0:revision>1</ns0:revision>
  <ns2:created xsi:type="dcterms:W3CDTF">2013-01-27T09:14:16Z</ns2:created>
  <ns2:modified xsi:type="dcterms:W3CDTF">2013-01-27T09:15:58Z</ns2:modified>
  <ns0:category/>
</ns0:coreProperties>
</file>